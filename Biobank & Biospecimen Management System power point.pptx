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2" r:id="rId10"/>
    <p:sldId id="263" r:id="rId11"/>
    <p:sldId id="264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78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3550" y="2434229"/>
            <a:ext cx="9456737" cy="2718796"/>
          </a:xfrm>
        </p:spPr>
        <p:txBody>
          <a:bodyPr>
            <a:noAutofit/>
          </a:bodyPr>
          <a:lstStyle/>
          <a:p>
            <a:r>
              <a:rPr lang="en-US" sz="3200" dirty="0"/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Project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Database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Biobank </a:t>
            </a:r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</a:t>
            </a: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Name:lavania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hany nagaty                </a:t>
            </a:r>
          </a:p>
          <a:p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ID:231001580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4" descr="data:image/png;base64,iVBORw0KGgoAAAANSUhEUgAAA6cAAANyCAYAAACe773sAAAQAElEQVR4Aezc525c2Y4GUGHe/6Gnfd1uK1Q4YQeGNWhLVSdwk4v68+EC838f/o8AAQIECBAgQIAAAQIECGwWEE6nL8ABBAgQIECAAAECBAgQIPBOQDh9J+R+fAEdEiBAgAABAgQIECCQXkA4Tb9CAxCYL+AEAgQIECBAgAABArMFhNPZwuoTIEDgvYAnCBAgQIAAAQLtBYTT9n8CAAgQINBBwIwECBAgQIBAdAHhNPqG9EeAAAECBDII6JEAAQIECNwUEE5vAnqdAAECBAgQILBCwBkECBCoLiCcVt+w+QgQIECAAAECBI4IeIYAgc0CwunmBTieAAECBAgQIECAQA8BUxJ4LSCcvvZxlwABAgQIECBAgAABAjkEkncpnCZfoPYJECBAgAABAgQIECBQQSBDOK3gbAYCBAgQIECAAAECBAgQeCEgnL7A6XPLpAQIECBAgAABAgQIENgrIJzu9Xd6FwFzEiBAgAABAgQIECDwUkA4fcnjJgECWQT0SYAAAQIECBAgkFtAOM29P90TIEBglYBzCBAgQIAAAQJTBYTTqbyKEyBAgACBowKeI0CAAAECvQWE0977Nz0BAgQIEOgjYFICBAgQCC0gnIZej+YIECBAgAABAnkEdEqAAIE7AsLpHT3vEiBAgAABAgQIEFgn4CQCpQWE09LrNRwBAgQIECBAgAABAscFPLlTQDjdqe9sAgQIECBAgAABAgQIdBJ4Matw+gLHLQIECBAgQIAAAQIECBBYIyCcjnFWhQABAgQIECBAgAABAgRuCAinN/C8ulLAWQQIECBAgAABAgQIVBYQTitv12wEzgh4lgABAgQIECBAgMBGAeF0I76jCRDoJWBaAgQIECBAgACB5wLC6XMbdwgQIEAgl4BuCRAgQIAAgcQCwmni5WmdAAECBAisFXAaAQIECBCYJyCczrNVmQABAgQIECBwTsDTBAgQaCwgnDZevtEJECBAgAABAt0EzEuAQFwB4TTubnRGgAABAgQIECBAIJuAfglcFhBOL9N5kQABAgQIECBAgAABAqsF6p4nnNbdrckIECBAgAABAgQIECCQRiBMOE0jplECBAgQIECAAAECBAgQGC4gnA4nDVtQYwQIECBAgAABAgQIEAgrIJyGXY3G8gnomAABAgQIECBAgACBqwLC6VU57xEgsF7AiQQIECBAgAABAmUFhNOyqzUYAQIEzgt4gwABAgQIECCwS0A43SXvXAIECBDoKGBmAgQIECBA4ImAcPoExmUCBAgQIEAgo4CeCRAgQCCrgHCadXP6JkCAAAECBAjsEHAmAQIEJgkIp5NglSVAgAABAgQIECBwRcA7BLoKCKddN29uAgQIECBAgAABAj0FTB1UQDgNuhhtESBAgAABAgQIECBAIKfAta6F02tu3iJAgAABAgQIECBAgACBgQLC6QlMjxIgQIAAAQIECBAgQIDAHAHhdI6rqtcEvEWAAAECBAgQIECAQFMB4bTp4o3dVcDcBAgQIECAAAECBGIKCKcx96IrAgSyCuibAAECBAgQIEDgkoBweonNSwQIECCwS8C5BAgQIECAQE0B4bTmXk1FgAABAgSuCniPAAECBAhsERBOt7A7lAABAgQIEOgrYHICBAgQeCQgnD5ScY0AAQIECBAgQCCvgM4JEEgpIJymXJumCRAgQIAAAQIECOwTcDKBGQLC6QxVNQkQIECAAAECBAgQIHBdoOWbwmnLtRuaAAECBAgQIECAAAECsQTWhtNYs+uGAAECBAgQIECAAAECBIIICKdBFjGqDXUIECBAgAABAgQIECCQUUA4zbg1Pe8UcDYBAgQIECBAgAABAhMEhNMJqEoSIHBHwLsECBAgQIAAAQIdBYTTjls3MwECvQVMT4AAAQIECBAIKCCcBlyKlggQIEAgt4DuCRAgQIAAgfMCwul5M28QIECAAAECewWcToAAAQIFBYTTgks1EgECBAgQIEDgnoC3CRAgsF5AOF1v7kQCBAgQIECAAIHuAuYnQOCHgHD6g8QFAgQIECBAgAABAgSyC+g/n4Bwmm9nOiZAgAABAgQIECBAgMBugeHnC6fDSRUkQIAAAQIECBAgQIAAgbMCwul3Md8JECBAgAABAgQIECBAYLmAcLqc3IEECBAgQIAAAQIECBAg8F1AOP0u4juB/AImIECAAAECBAgQIJBOQDhNtzINEyCwX0AHBAgQIECAAAECowWE09Gi6hEgQIDAfQEVCBAgQIAAgXYCwmm7lRuYAAECBAh8fDAgQIAAAQLRBITTaBvRDwECBAgQIFBBwAwECBAgcFJAOD0J5nECBAgQIECAAIEIAnogQKCagHBabaPmIUCAAAECBAgQIDBCQA0CiwWE08XgjiNAgAABAgQIECBAgMAvAf++CginXz18I0CAAAECBAgQIECAAIENAhPC6YYpHEmAAAECBAgQIECAAAECqQWE04zr0zMBAgQIECBAgAABAgSKCQinxRZqnDECqhAgQIAAAQIECBAgsFZAOF3r7TQCBH4L+EmAAAECBAgQIEDgi4Bw+oXDFwIECFQRMAcBAgQIECBAIJeAcJprX7olQIAAgSgC+iBAgAABAgSGCginQzkVI0CAAAECBEYJqEOAAAECvQSE0177Ni0BAgQIECBA4I+A3wQIEAglIJyGWodmCBAgQIAAAQIE6giYhACBMwLC6RktzxIgQIAAAQIECBAgEEdAJ6UEhNNS6zQMAQIECBAgQIAAAQIExgmsrCScrtR2FgECBAgQIECAAAECBAg8FGgaTh9auEiAAAECBAgQIECAAAECmwSE003w5Y81IAECBAgQIECAAAECBE4ICKcnsDxKIJKAXggQIECAAAECBAhUEhBOK23TLAQIjBRQiwABAgQIECBAYKGAcLoQ21EECBAg8FnAZwIECBAgQIDAXwHh9K+FTwQIECBAoJaAaQgQIECAQCIB4TTRsrRKgAABAgQIxBLQDQECBAiMExBOx1mqRIAAAQIECBAgMFZANQIEGgkIp42WbVQCBAgQIECAAAECXwV8IxBHQDiNswudECBAgAABAgQIECBQTcA8hwWE08NUHiRAgAABAgQIECBAgACBWQJXw+msftQlQIAAAQIECBAgQIAAgYYCwmnYpWuMAAECBAgQIECAAAECfQSE0z67Nul3Ad8JECBAgAABAgQIEAgjIJyGWYVGCNQTMBEBAgQIECBAgACBowLC6VEpzxEgQCCegI4IECBAgAABAmUEhNMyqzQIAQIECIwXUJEAAQIECBBYJSCcrpJ2DgECBAgQIPBTwBUCBAgQIPCvgHD6L4RfBAgQIECAAIGKAmYiQIBAFgHhNMum9EmAAAECBAgQIBBRQE8ECAwSEE4HQSpDgAABAgQIECBAgMAMATW7CAinXTZtTgIECBAgQIAAAQIECDwSCHJNOA2yCG0QIECAAAECBAgQIECgs0DlcNp5r2YnQIAAAQIECBAgQIBAKgHhNNW6ojWrHwIECBAgQIAAAQIECIwREE7HOKpCYI6AqgQIECBAgAABAgSaCAinTRZtTAIEHgu4SoAAAQIECBAgEENAOI2xB10QIECgqoC5CBAgQIAAAQKHBITTQ0weIkCAAAECUQX0RYAAAQIEaggIpzX2aAoCBAgQIEBgloC6BAgQILBEQDhdwuwQAgQIECBAgACBZwKuEyBA4JeAcPpLwT8CBAgQIECAAAECdQVMRiCFgHCaYk2aJECAAAECBAgQIEAgroDORggIpyMU1SBAgAABAgQIECBAgACBWwIvw+mtyl4mQIAAAQIECBAgQIAAAQIHBYTTg1CTHlOWAAECBAgQIECAAAECBP4REE7/QfBfZQGzESBAgAABAgQIECCQQUA4zbAlPRKILKA3AgQIECBAgAABAgMEhNMBiEoQIEBgpoDaBAgQIECAAIEOAsJphy2bkQABAgReCbhHgAABAgQIBBAQTgMsQQsECBAgQKC2gOkIECBAgMB7AeH0vZEnCBAgQIAAAQKxBXRHgACBAgLCaYElGoEAAQIECBAgQGCugOoECMwXEE7nGzuBAAECBAgQIECAAIHXAu4S+BBO/REQIECAAAECBAgQIECgvED8AYXT+DvSIQECBAgQIECAAAECBMoLpA+n5TdkQAIECBAgQIAAAQIECDQQEE4bLPnmiF4nQIAAAQIECBAgQIDAdAHhdDqxAwi8E3CfAAECBAgQIECAAAHh1N8AAQL1BUxIgAABAgQIECAQXkA4Db8iDRIgQCC+gA4JECBAgAABAncFhNO7gt4nQIAAAQLzBZxAgAABAgTKCwin5VdsQAIECBAgQOC9gCcIECBAYLeAcLp7A84nQIAAAQIECHQQMCMBAgTeCAinb4DcJkCAAAECBAgQIJBBQI8EsgsIp9k3qH8CBAgQIECAAAECBFYIOGOygHA6GVh5AgQIECBAgAABAgQIEHgv8H8f75/xBAECBAgQIECAAAECBAgQmCrgfzmdyvu7uJ8ECBAgQIAAAQIECBAg8FpAOH3t424OAV0SIECAAAECBAgQIJBcQDhNvkDtE1gj4BQCBAgQIECAAAECcwWE07m+qhMgQOCYgKcIECBAgAABAs0FhNPmfwDGJ0CAQBcBcxIgQIAAAQKxBYTT2PvRHQECBAgQyCKgTwIECBAgcEtAOL3F52UCBAgQIECAwCoB5xAgQKC2gHBae7+mI0CAAAECBAgQOCrgOQIEtgoIp1v5HU6AAAECBAgQIECgj4BJCbwSEE5f6bhHgAABAgQIECBAgACBPAKpOxVOU69P8wQIECBAgAABAgQIEKghkCOc1rA2BQECBAgQIECAAAECBAg8ERBOn8B0u2xeAgQIECBAgAABAgQI7BQQTnfqO7uTgFkJECBAgAABAgQIEHghIJy+wHGLAIFMAnolQIAAAQIECBDILCCcZt6e3gkQILBSwFkECBAgQIAAgYkCwulEXKUJECBAgMAZAc8SIECAAIHOAsJp5+2bnQABAgQI9BIwLQECBAgEFhBOAy9HawQIECBAgACBXAK6JUCAwHUB4fS6nTcJECBAgAABAgQIrBVwGoHCAsJp4eUajQABAgQIECBAgACBcwKe3icgnO6zdzIBAgQIECBAgAABAgS6CTydVzh9SuMGAQIECBAgQIAAAQIECKwSEE5HSatDgAABAgQIECBAgAABApcFhNPLdF5cLeA8AgQIECBAgAABAgTqCgindXdrMgJnBTxPgAABAgQIECBAYJuAcLqN3sEECPQTMDEBAgQIECBAgMAzAeH0mYzrBAgQIJBPQMcECBAgQIBAWgHhNO3qNE6AAAECBNYLOJEAAQIECMwSEE5nyapLgAABAgQIEDgv4A0CBAi0FRBO267e4AQIECBAgACBjgJmJkAgqoBwGnUz+iJAgAABAgQIECCQUUDPBC4KCKcX4bxGgAABAgQIECBAgACBHQJVzxROq27WXAQIECBAxZilGgAAEABJREFUgAABAgQIEEgkECicJlLTKgECBAgQIECAAAECBAgMFRBOh3IGL6Y9AgQIECBAgAABAgQIBBUQToMuRls5BXRNgAABAgQIECBAgMA1AeH0mpu3CBDYI+BUAgQIECBAgACBogLCadHFGosAAQLXBLxFgAABAgQIENgjIJzucXcqAQIECHQVMDcBAgQIECDwUEA4fcjiIgECBAgQIJBVQN8ECBAgkFNAOM25N10TIECAAAECBHYJOJcAAQJTBITTKayKEiBAgAABAgQIELgq4D0CPQWE0557NzUBAgQIECBAgACBvgImDykgnIZci6YIECBAgAABAgQIECCQV+BK58LpFTXvECBAgAABAgQIECBAgMBQAeH0FKeHCRAgQIAAAQIECBAgQGCGgHA6Q1XN6wLeJECAAAECBAgQIECgpYBw2nLthu4sYHYCBAgQIECAAAECEQWE04hb0RMBApkF9E6AAAECBAgQIHBBQDi9gOYVAgQIENgp4GwCBAgQIECgooBwWnGrZiJAgAABAncEvEuAAAECBDYICKcb0B1JgAABAgQI9BYwPQECBAj8FBBOf5q4QoAAAQIECBAgkFtA9wQIJBQQThMuTcsECBAgQIAAAQIE9go4ncB4AeF0vKmKBAgQIECAAAECBAgQuCfQ8G3htOHSjUyAAAECBAgQIECAAIFoAqvDabT59UOAAAECBAgQIECAAAECAQSE0wBLGNuCagQIECBAgAABAgQIEMgnIJzm25mOdws4nwABAgQIECBAgACB4QLC6XBSBQkQuCvgfQIECBAgQIAAgX4Cwmm/nZuYAAECBAgQIECAAAEC4QSE03Ar0RABAgQI5BcwAQECBAgQIHBWQDg9K+Z5AgQIECBAYL+ADggQIECgnIBwWm6lBiJAgAABAgQI3BdQgQABAqsFhNPV4s4jQIAAAQIECBAg8PHBgACBbwLC6TcQXwkQIECAAAECBAgQqCBghmwCwmm2jemXAAECBAgQIECAAAECEQQG9yCcDgZVjgABAgQIECBAgAABAgTOCwinP81cIUCAAAECBAgQIECAAIHFAsLpYnDH/RLwjwABAgQIECBAgAABAl8FhNOvHr4RqCFgCgIECBAgQIAAAQLJBITTZAvTLgECMQR0QYAAAQIECBAgMFZAOB3rqRoBAgQIjBFQhQABAgQIEGgmIJw2W7hxCRAgQIDAbwE/CRAgQIBALAHhNNY+dEOAAAECBAhUETAHAQIECJwSEE5PcXmYAAECBAgQIEAgioA+CBCoJSCc1tqnaQgQIECAAAECBAiMElCHwFIB4XQpt8MIECBAgAABAgQIECDwR8DvzwLC6WcNnwkQIECAAAECBAgQIEBgi8CUcLplEocSIECAAAECBAgQIECAQFoB4TTn6nRNgAABAgQIECBAgACBUgLCaal1GmacgEoECBAgQIAAAQIECKwUEE5XajuLAIG/Aj4RIECAAAECBAgQ+CQgnH7C8JEAAQKVBMxCgAABAgQIEMgkIJxm2pZeCRAgQCCSgF4IECBAgACBgQLC6UBMpQgQIECAAIGRAmoRIECAQCcB4bTTts1KgAABAgQIEPgs4DMBAgQCCQingZahFQIECBAgQIAAgVoCpiFA4LiAcHrcypMECBAgQIAAAQIECMQS0E0hAeG00DKNQoAAAQIECBAgQIAAgbEC66oJp+usnUSAAAECBAgQIECAAAECTwTahtMnHi4TIECAAAECBAgQIECAwAYB4XQDepMjjUmAAAECBAgQIECAAIHDAsLpYSoPEogmoB8CBAgQIECAAAECdQSE0zq7NAkBAqMF1CNAgAABAgQIEFgmIJwuo3YQAQIECHwX8J0AAQIECBAg8EdAOP0j4TcBAgQIEKgnYCICBAgQIJBGQDhNsyqNEiBAgAABAvEEdESAAAECowSE01GS6hAgQIAAAQIECIwXUJEAgTYCwmmbVRuUAAECBAgQIECAwE8BVwhEERBOo2xCHwQIECBAgAABAgQIVBQw00EB4fQglMcIECBAgAABAgQIECBAYJ7A9XA6ryeVCRAgQIAAAQIECBAgQKCZgHAaeOFaI0CAAAECBAgQIECAQBcB4bTLps35SMA1AgQIECBAgAABAgSCCAinQRahDQI1BUxFgAABAgQIECBA4JiAcHrMyVMECBCIKaArAgQIECBAgEARAeG0yCKNQYAAAQJzBFQlQIAAAQIE1ggIp2ucnUKAAAECBAg8FnCVAAECBAj8T0A4/R+DHwQIECBAgACBqgLmIkCAQA4B4TTHnnRJgAABAgQIECAQVUBfBAgMERBOhzAqQoAAAQIECBAgQIDALAF1ewgIpz32bEoCBAgQIECAAAECBAg8EwhxXTgNsQZNECBAgAABAgQIECBAoLdA7XDae7emJ0CAAAECBAgQIECAQBoB4TTNqmI2qisCBAgQIECAAAECBAiMEBBORyiqQWCegMoECBAgQIAAAQIEWggIpy3WbEgCBJ4LuEOAAAECBAgQIBBBQDiNsAU9ECBAoLKA2QgQIECAAAECBwSE0wNIHiFAgAABApEF9EaAAAECBCoICKcVtmgGAgQIECBAYKaA2gQIECCwQEA4XYDsCAIECBAgQIAAgVcC7hEgQODjQzj1V0CAAAECBAgQIECguoD5CCQQEE4TLEmLBAgQIECAAAECBAjEFtDdfQHh9L6hCgQIECBAgAABAgQIECBwU+BNOL1Z3esECBAgQIAAAQIECBAgQOCAgHB6AGnqI4oTIECAAAECBAgQIECAgP+HSP4G6guYkAABAgQIECBAgACB+AL+l9P4O9IhgegC+iNAgAABAgQIECBwW0A4vU2oAAECBGYLqE+AAAECBAgQqC8gnNbfsQkJECBA4J2A+wQIECBAgMB2AeF0+wo0QIAAAQIE6guYkAABAgQIvBMQTt8JuU+AAAECBAgQiC+gQwIECKQXEE7Tr9AABAgQIECAAAEC8wWcQIDAbAHhdLaw+gQIECBAgAABAgQIvBfwRHsB4bT9nwAAAgQIECBAgAABAgQ6CESfUTiNviH9ESBAgAABAgQIECBAoIFAgXDaYEtGJECAAAECBAgQIECAQHEB4bT4goeMpwgBAgQIECBAgAABAgQmCwink4GVJ3BEwDMECBAgQIAAAQIEugsIp93/AsxPoIeAKQkQIECAAAECBIILCKfBF6Q9AgQI5BDQJQECBAgQIEDgnoBwes/P2wQIECBAYI2AUwgQIECAQHEB4bT4go1HgAABAgQIHBPwFAECBAjsFRBO9/o7nQABAgQIECDQRcCcBAgQeCkgnL7kcZMAAQIECBAgQIBAFgF9EsgtIJzm3p/uCRAgQIAAAQIECBBYJeCcqQLC6VRexQkQIECAAAECBAgQIEDgiMCvcHrkOc8QIECAAAECBAgQIECAAIFpAsLpNNrPhX0mQIAAAQIECBAgQIAAgVcCwukrHffyCOiUAAECBAgQIECAAIHUAsJp6vVpnsA6AScRIECAAAECBAgQmCkgnM7UVZsAAQLHBTxJgAABAgQIEGgtIJy2Xr/hCRAg0EnArAQIECBAgEBkAeE08nb0RoAAAQIEMgnolQABAgQI3BAQTm/geZUAAQIECBAgsFLAWQQIEKgsIJxW3q7ZCBAgQIAAAQIEzgh4lgCBjQLC6UZ8RxMgQIAAAQIECBDoJWBaAs8FhNPnNu4QIECAAAECBAgQIEAgl0DiboXTxMvTOgECBAgQIECAAAECBKoIZAmnVbzNQYAAAQIECBAgQIAAAQIPBITTByg9L5maAAECBAgQIECAAAEC+wSE0332Tu4mYF4CBAgQIECAAAECBJ4KCKdPadwgQCCbgH4JECBAgAABAgTyCgineXencwIECKwWcB4BAgQIECBAYJqAcDqNVmECBAgQIHBWwPMECBAgQKCvgHDad/cmJ0CAAAEC/QRMTIAAAQJhBYTTsKvRGAECBAgQIEAgn4COCRAgcFVAOL0q5z0CBAgQIECAAAEC6wWcSKCsgHBadrUGI0CAAAECBAgQIEDgvIA3dgkIp7vknUuAAAECBAgQIECAAIGOAk9mFk6fwLhMgAABAgQIECBAgAABAusEhNNx1ioRIECAAAECBAgQIECAwEUB4fQinNd2CDiTAAECBAgQIECAAIGqAsJp1c2ai8AVAe8QIECAAAECBAgQ2CQgnG6CdywBAj0FTE2AAAECBAgQIPBYQDh97OIqAQIECOQU0DUBAgQIECCQVEA4Tbo4bRMgQIAAgT0CTiVAgAABAnMEhNM5rqoSIECAAAECBK4JeIsAAQJNBYTTpos3NgECBAgQIECgq4C5CRCIKSCcxtyLrggQIECAAAECBAhkFdA3gUsCwuklNi8RIECAAAECBAgQIEBgl0DNc4XTmns1FQECBAgQIECAAAECBFIJhAqnqeQ0S4AAAQIECBAgQIAAAQLDBITTYZQpCmmSAAECBAgQIECAAAECIQWE05Br0VReAZ0TIECAAAECBAgQIHBFQDi9ouYdAgT2CTiZAAECBAgQIECgpIBwWnKthiJAgMB1AW8SIECAAAECBHYICKc71J1JgAABAp0FzE6AAAECBAg8EBBOH6C4RIAAAQIECGQW0DsBAgQIZBQQTjNuTc8ECBAgQIAAgZ0CziZAgMAEAeF0AqqSBAgQIECAAAECBO4IeJdARwHhtOPWzUyAAAECBAgQIECgt4DpAwoIpwGXoiUCBAgQIECAAAECBAjkFjjfvXB63swbBAgQIECAAAECBAgQIDBYQDg9CepxAgQIECBAgAABAgQIEBgvIJyON1XxnoC3CRAgQIAAAQIECBBoKCCcNly6kbsLmJ8AAQIECBAgQIBAPAHhNN5OdESAQHYB/RMgQIAAAQIECJwWEE5Pk3mBAAECBHYLOJ8AAQIECBCoJyCc1tupiQgQIECAwF0B7xMgQIAAgeUCwulycgcSIECAAAECBAgQIECAwHcB4fS7iO8ECBAgQIAAAQL5BUxAgEA6AeE03co0TIAAAQIECBAgQGC/gA4IjBYQTkeLqkeAAAECBAgQIECAAIH7Au0qCKftVm5gAgQIECBAgAABAgQIxBNYH07jGeiIAAECBAgQIECAAAECBDYLCKebFzDjeDUJECBAgAABAgQIECCQTUA4zbYx/UYQ0AMBAgQIECBAgAABAoMFhNPBoMoRIDBCQA0CBAgQIECAAIFuAsJpt42blwABAr8E/CNAgAABAgQIBBMQToMtRDsECBAgUEPAFAQIECBAgMA5AeH0nJenCRAgQIAAgRgCuiBAgACBYgLCabGFGocAAQIECBAgMEZAFQIECKwVEE7XejuNAAECBAgQIECAwG8BPwkQ+CIgnH7h8IUAAQIECBAgQIAAgSoC5sglIJzm2pduCRAgQIAAAQIECBAgEEVgaB/C6VBOxQgQIECAAAECBAgQIEDgioBw+kjNNQIECBAgQIAAAe9ZD0gAABAASURBVAIECBBYKiCcLuV22B8BvwkQIECAAAECBAgQIPBZQDj9rOEzgToCJiFAgAABAgQIECCQSkA4TbUuzRIgEEdAJwQIECBAgAABAiMFhNORmmoRIECAwDgBlQgQIECAAIFWAsJpq3UblgABAgQI/BXwiQABAgQIRBIQTiNtQy8ECBAgQIBAJQGzECBAgMAJAeH0BJZHCRAgQIAAAQIEIgnohQCBSgLCaaVtmoUAAQIECBAgQIDASAG1CCwUEE4XYjuKAAECBAgQIECAAAECnwV8/isgnP618IkAAQIECBAgQIAAAQIENglMCqebpnEsAQIECBAgQIAAAQIECKQUEE5Tru3j40PfBAgQIECAAAECBAgQKCQgnBZaplHGCqhGgAABAgQIECBAgMA6AeF0nbWTCBD4KuAbAQIECBAgQIAAgf8EhNP/KHwgQIBANQHzECBAgAABAgTyCAineXalUwIECBCIJqAfAgQIECBAYJiAcDqMUiECBAgQIEBgtIB6BAgQINBHQDjts2uTEiBAgAABAgS+C/hOgACBMALCaZhVaIQAAQIECBAgQKCegIkIEDgqIJwelfIcAQIECBAgQIAAAQLxBHRURkA4LbNKgxAgQIAAAQIECBAgQGC8wKqKwukqaecQIECAAAECBAgQIECAwFOBxuH0qYkbBAgQIECAAAECBAgQILBYQDhdDN7qOMMSIECAAAECBAgQIEDgoIBwehDKYwQiCuiJAAECBAgQIECAQBUB4bTKJs1BgMAMATUJECBAgAABAgQWCQini6AdQ4AAAQKPBFwjQIAAAQIECPwWEE5/O/hJgAABAgRqCpiKAAECBAgkERBOkyxKmwQIECBAgEBMAV0RIECAwBgB4XSMoyoECBAgQIAAAQJzBFQlQKCJgHDaZNHGJECAAAECBAgQIPBYwFUCMQSE0xh70AUBAgQIECBAgAABAlUFzHVIQDg9xOQhAgQIECBAgAABAgQIEJgpcCeczuxLbQIECBAgQIAAAQIECBBoJCCchl625ggQIECAAAECBAgQINBDQDjtsWdTPhNwnQABAgQIECBAgACBEALCaYg1aIJAXQGTESBAgAABAgQIEDgiIJweUfIMAQIE4grojAABAgQIECBQQkA4LbFGQxAgQIDAPAGVCRAgQIAAgRUCwukKZWcQIECAAAECzwXcIUCAAAEC/wgIp/8g+I8AAQIECBAgUFnAbAQIEMggIJxm2JIeCRAgQIAAAQIEIgvojQCBAQLC6QBEJQgQIECAAAECBAgQmCmgdgcB4bTDls1IgAABAgQIECBAgACBVwIB7gmnAZagBQIECBAgQIAAAQIECHQXqB5Ou+/X/AQIECBAgAABAgQIEEghIJymWFPkJvVGgAABAgQIECBAgACB+wLC6X1DFQjMFVCdAAECBAgQIECAQAMB4bTBko1IgMBrAXcJECBAgAABAgT2Cwin+3egAwIECFQXMB8BAgQIECBA4K2AcPqWyAMECBAgQCC6gP4IECBAgEB+AeE0/w5NQIAAAQIECMwWUJ8AAQIEpgsIp9OJHUCAAAECBAgQIPBOwH0CBAgIp/4GCBAgQIAAAQIECNQXMCGB8ALCafgVaZAAAQIECBAgQIAAgfgCOrwrIJzeFfQ+AQIECBAgQIAAAQIECNwWeBtOb5+gAAECBAgQIECAAAECBAgQeCMgnL4BWnDbEQQIECBAgAABAgQIEGgvIJy2/xPoAGBGAgQIECBAgAABAgSiCwin0TekPwIZBPRIgAABAgQIECBA4KaAcHoT0OsECBBYIeAMAgQIECBAgEB1AeG0+obNR4AAAQJHBDxDgAABAgQIbBYQTjcvwPEECBAgQKCHgCkJECBAgMBrAeH0tY+7BAgQIECAAIEcArokQIBAcgHhNPkCtU+AAAECBAgQILBGwCkECMwVEE7n+qpOgAABAgQIECBAgMAxAU81FxBOm/8BGJ8AAQIECBAgQIAAgS4CsecUTmPvR3cECBAgQIAAAQIECBBoIVAinLbYlCEJECBAgAABAgQIECBQWEA4LbzcgaMpRYAAAQIECBAgQIAAgakCwulUXsUJHBXwHAECBAgQIECAAIHeAsJp7/2bnkAfAZMSIECAAAECBAiEFhBOQ69HcwQIEMgjoFMCBAgQIECAwB0B4fSOnncJECBAgMA6AScRIECAAIHSAsJp6fUajgABAgQIEDgu4EkCBAgQ2CkgnO7UdzYBAgQIECBAoJOAWQkQIPBCQDh9geMWAQIECBAgQIAAgUwCeiWQWUA4zbw9vRMgQIAAAQIECBAgsFLAWRMFhNOJuEoTIECAAAECBAgQIECAwDGB3+H02LOeIkCAAAECBAgQIECAAAECUwSE0ymsP4u6QoAAAQIECBAgQIAAAQLPBYTT5zbu5BLQLQECBAgQIECAAAECiQWE08TL0zqBtQJOI0CAAAECBAgQIDBPQDidZ6syAQIEzgl4mgABAgQIECDQWEA4bbx8oxMgQKCbgHkJECBAgACBuALCadzd6IwAAQIECGQT0C8BAgQIELgsIJxepvMiAQIECBAgQGC1gPMIECBQV0A4rbtbkxEgQIAAAQIECJwV8DwBAtsEhNNt9A4mQIAAAQIECBAg0E/AxASeCQinz2RcJ0CAAAECBAgQIECAQD6BtB0Lp2lXp3ECBAgQIECAAAECBAjUEcgTTuuYm4QAAQIECBAgQIAAAQIEvgkIp99AOn81OwECBAgQIECAAAECBHYJCKe75J3bUcDMBAgQIECAAAECBAg8ERBOn8C4TIBARgE9EyBAgAABAgQIZBUQTrNuTt8ECBDYIeBMAgQIECBAgMAkAeF0EqyyBAgQIEDgioB3CBAgQIBAVwHhtOvmzU2AAAECBHoKmJoAAQIEggoIp0EXoy0CBAgQIECAQE4BXRMgQOCagHB6zc1bBAgQIECAAAECBPYIOJVAUQHhtOhijUWAAAECBAgQIECAwDUBb+0REE73uDuVAAECBAgQIECAAAECXQUezi2cPmRxkQABAgQIECBAgAABAgRWCginI7XVIkCAAAECBAgQIECAAIFLAsLpJTYv7RJwLgECBAgQIECAAAECNQWE05p7NRWBqwLeI0CAAAECBAgQILBFQDjdwu5QAgT6CpicAAECBAgQIEDgkYBw+kjFNQIECBDIK6BzAgQIECBAIKWAcJpybZomQIAAAQL7BJxMgAABAgRmCAinM1TVJECAAAECBAhcF/AmAQIEWgoIpy3XbmgCBAgQIECAQGcBsxMgEFFAOI24FT0RIECAAAECBAgQyCygdwIXBITTC2heIUCAAAECBAgQIECAwE6BimcLpxW3aiYCBAgQIECAAAECBAgkEwgWTpPpaZcAAQIECBAgQIAAAQIEhggIp0MYExXRKgECBAgQIECAAAECBAIKCKcBl6Kl3AK6J0CAAAECBAgQIEDgvIBwet7MGwQI7BVwOgECBAgQIECAQEEB4bTgUo1EgACBewLeJkCAAAECBAisFxBO15s7kQABAgS6C5ifAAECBAgQ+CEgnP4gcYEAAQIECBDILqB/AgQIEMgnIJzm25mOCRAgQIAAAQK7BZxPgACB4QLC6XBSBQkQIECAAAECBAjcFfA+gX4Cwmm/nZuYAAECBAgQIECAAAEC4QSE03Ar0RABAgQIECBAgAABAgTyC5ydQDg9K+Z5AgQIECBAgAABAgQIEBguIJyeJvUCAQIECBAgQIAAAQIECIwWEE5Hi6p3X0AFAgQIECBAgAABAgTaCQin7VZuYAIfHwwIECBAgAABAgQIRBMQTqNtRD8ECFQQMAMBAgQIECBAgMBJAeH0JJjHCRAgQCCCgB4IECBAgACBagLCabWNmocAAQIECIwQUIMAAQIECCwWEE4XgzuOAAECBAgQIPBLwD8CBAgQ+CognH718I0AAQIECBAgQKCGgCkIEEgmIJwmW5h2CRAgQIAAAQIECMQQ0AWBsQLC6VhP1QgQIECAAAECBAgQIDBGoFkV4bTZwo1LgAABAgQIECBAgACBiAI7wmlEBz0RIECAAAECBAgQIECAwEYB4XQj/ryjVSZAgAABAgQIECBAgEAuAeE01750G0VAHwQIECBAgAABAgQIDBUQTodyKkaAwCgBdQgQIECAAAECBHoJCKe99m1aAgQI/BHwmwABAgQIECAQSkA4DbUOzRAgQIBAHQGTECBAgAABAmcEhNMzWp4lQIAAAQIE4gjohAABAgRKCQinpdZpGAIECBAgQIDAOAGVCBAgsFJAOF2p7SwCBAgQIECAAAECfwV8IkDgk4Bw+gnDRwIECBAgQIAAAQIEKgmYJZOAcJppW3olQIAAAQIECBAgQIBAJIGBvQinAzGVIkCAAAECBAgQIECAAIFrAsLpYzdXCRAgQIAAAQIECBAgQGChgHC6ENtRnwV8JkCAAAECBAgQIECAwF8B4fSvhU8EagmYhgABAgQIECBAgEAiAeE00bK0SoBALAHdECBAgAABAgQIjBMQTsdZqkSAAAECYwVUI0CAAAECBBoJCKeNlm1UAgQIECDwVcA3AgQIECAQR0A4jbMLnRAgQIAAAQLVBMxDgAABAocFhNPDVB4kQIAAAQIECBCIJqAfAgTqCAindXZpEgIECBAgQIAAAQKjBdQjsExAOF1G7SACBAgQIECAAAECBAh8F/D9j4Bw+kfCbwIECBAgQIAAAQIECBDYJjAtnG6byMEECBAgQIAAAQIECBAgkE5AOE23sv8a9oEAAQIECBAgQIAAAQJlBITTMqs0yHgBFQkQIECAAAECBAgQWCUgnK6Sdg4BAj8FXCFAgAABAgQIECDwr4Bw+i+EXwQIEKgoYCYCBAgQIECAQBYB4TTLpvRJgAABAhEF9ESAAAECBAgMEhBOB0EqQ4AAAQIECMwQUJMAAQIEuggIp102bU4CBAgQIECAwCMB1wgQIBBEQDgNsghtECBAgAABAgQI1BQwFQECxwSE02NOniJAgAABAgQIECBAIKaArooICKdFFmkMAgQIECBAgAABAgQIzBFYU1U4XePsFAIECBAgQIAAAQIECBB4IdA6nL5wcYsAAQIECBAgQIAAAQIEFgoIpwuxGx5lZAIECBAgQIAAAQIECBwSEE4PMXmIQFQBfREgQIAAAQIECBCoISCc1tijKQgQmCWgLgECBAgQIECAwBIB4XQJs0MIECBA4JmA6wQIECBAgACBXwLC6S8F/wgQIECAQF0BkxEgQIAAgRQCwmmKNWmSAAECBAgQiCugMwIECBAYISCcjlBUgwABAgQIECBAYJ6AygQItBAQTlus2ZAECBAgQIAAAQIEngu4QyCCgHAaYQt6IECAAAECBAgQIECgsoDZDggIpweQPEKAAAECBAgQIECAAAECcwXuhdO5valOgAABAgQIECBAgAABAk0EhNPgi9YeAQIECBAgQIAAAQIEOggIpx22bMZXAu4hlrd8AAAQAElEQVQRIECAAAECBAgQIBBAQDgNsAQtEKgtYDoCBAgQIECAAAEC7wWE0/dGniBAgEBsAd0RIECAAAECBAoICKcFlmgEAgQIEJgroDoBAgQIECAwX0A4nW/sBAIECBAgQOC1gLsECBAgQOBDOPVHQIAAAQIECBAoL2BAAgQIxBcQTuPvSIcECBAgQIAAAQLRBfRHgMBtAeH0NqECBAgQIECAAAECBAjMFlC/voBwWn/HJiRAgAABAgQIECBAgMA7ge33hdPtK9AAAQIECBAgQIAAAQIECNQPp3ZMgAABAgQIECBAgAABAuEFhNPwK4rfoA4JECBAgAABAgQIECBwV0A4vSvofQLzBZxAgAABAgQIECBAoLyAcFp+xQYkQOC9gCcIECBAgAABAgR2CwinuzfgfAIECHQQMCMBAgQIECBA4I2AcPoGyG0CBAgQIJBBQI8ECBAgQCC7gHCafYP6J0CAAAECBFYIOIMAAQIEJgsIp5OBlSdAgAABAgQIEDgi4BkCBLoLCKfd/wLMT4AAAQIECBAg0EPAlASCCwinwRekPQIECBAgQIAAAQIEcgjo8p6AcHrPz9sECBAgQIAAAQIECBAgMEDgQDgdcIoSBAgQIECAAAECBAgQIEDghYBw+gJn2S0HESBAgAABAgQIECBAoLmAcNr8D6DL+OYkQIAAAQIECBAgQCC2gHAaez+6I5BFQJ8ECBAgQIAAAQIEbgkIp7f4vEyAAIFVAs4hQIAAAQIECNQWEE5r79d0BAgQIHBUwHMECBAgQIDAVgHhdCu/wwkQIECAQB8BkxIgQIAAgVcCwukrHfcIECBAgAABAnkEdEqAAIHUAsJp6vVpngABAgQIECBAYJ2AkwgQmCkgnM7UVZsAAQIECBAgQIAAgeMCnmwtIJy2Xr/hCRAgQIAAAQIECBDoJBB5VuE08nb0RoAAAQIECBAgQIAAgSYCRcJpk20ZkwABAgQIECBAgAABAkUFhNOiix0+loIECBAgQIAAAQIECBCYKCCcTsRVmsAZAc8SIECAAAECBAgQ6CwgnHbevtkJ9BIwLQECBAgQIECAQGAB4TTwcrRGgACBXAK6JUCAAAECBAhcFxBOr9t5kwABAgQIrBVwGgECBAgQKCwgnBZertEIECBAgACBcwKeJkCAAIF9AsLpPnsnEyBAgAABAgS6CZiXAAECTwWE06c0bhAgQIAAAQIECBDIJqBfAnkFhNO8u9M5AQIECBAgQIAAAQKrBZw3TUA4nUarMAECBAgQIECAAAECBAgcFfgTTo8+7zkCBAgQIECAAAECBAgQIDBcQDgdTvqsoOsECBAgQIAAAQIECBAg8ExAOH0m43o+AR0TIECAAAECBAgQIJBWQDhNuzqNE1gv4EQCBAgQIECAAAECswSE01my6hIgQOC8gDcIECBAgAABAm0FhNO2qzc4AQIEOgqYmQABAgQIEIgqIJxG3Yy+CBAgQIBARgE9EyBAgACBiwLC6UU4rxEgQIAAAQIEdgg4kwABAlUFhNOqmzUXAQIECBAgQIDAFQHvECCwSUA43QTvWAIECBAgQIAAAQI9BUxN4LGAcPrYxVUCBAgQIECAAAECBAjkFEjatXCadHHaJkCAAAECBAgQIECAQCWBTOG0krtZCBAgQIAAAQIECBAgQOCTgHD6CcNHAgQIECBAgAABAgQIENgjIJzucXdqVwFzEyBAgAABAgQIECDwUEA4fcjiIgECWQX0TYAAAQIECBAgkFNAOM25N10TIEBgl4BzCRAgQIAAAQJTBITTKayKEiBAgACBqwLeI0CAAAECPQWE0557NzUBAgQIEOgrYHICBAgQCCkgnIZci6YIECBAgAABAnkFdE6AAIErAsLpFTXvECBAgAABAgQIENgn4GQCJQWE05JrNRQBAgQIECBAgAABAtcFvLlDQDjdoe5MAgQIECBAgAABAgQIdBZ4MLtw+gDFJQIECBAgQIAAAQIECBBYKyCcjvVWjQABAgQIECBAgAABAgQuCAinF9C8slPA2QQIECBAgAABAgQIVBQQTitu1UwE7gh4lwABAgQIECBAgMAGAeF0A7ojCRDoLWB6AgQIECBAgACBnwLC6U8TVwgQIEAgt4DuCRAgQIAAgYQCwmnCpWmZAAECBAjsFXA6AQIECBAYLyCcjjdVkQABAgQIECBwT8DbBAgQaCggnDZcupEJECBAgAABAt0FzE+AQDwB4TTeTnREgAABAgQIECBAILuA/gmcFhBOT5N5gQABAgQIECBAgAABArsF6p0vnNbbqYkIECBAgAABAgQIECCQTiBcOE0nqGECBAgQIECAAAECBAgQuC0gnN4mTFdAwwQIECBAgAABAgQIEAgnIJyGW4mG8guYgAABAgQIECBAgACBswLC6VkxzxMgsF9ABwQIECBAgAABAuUEhNNyKzUQAQIE7guoQIAAAQIECBBYLSCcrhZ3HgECBAgQ+PhgQIAAAQIECHwTEE6/gfhKgAABAgQIVBAwAwECBAhkExBOs21MvwQIECBAgACBCAJ6IECAwGAB4XQwqHIECBAgQIAAAQIERgioQaCbgHDabePmJUCAAAECBAgQIEDgl4B/wQSE02AL0Q4BAgQIECBAgAABAgRqCJybQjg95+VpAgQIECBAgAABAgQIEJggIJxeQPUKAQIECBAgQIAAAQIECIwVEE7Heqo2RkAVAgQIECBAgAABAgSaCQinzRZuXAK/BfwkQIAAAQIECBAgEEtAOI21D90QIFBFwBwECBAgQIAAAQKnBITTU1weJkCAAIEoAvogQIAAAQIEagkIp7X2aRoCBAgQIDBKQB0CBAgQILBUQDhdyu0wAgQIECBAgMAfAb8JECBA4LOAcPpZw2cCBAgQIECAAIE6AiYhQCCVgHCaal2aJUCAAAECBAgQIBBHQCcERgoIpyM11SJAgAABAgQIECBAgMA4gVaVhNNW6zYsAQIECBAgQIAAAQIEYgrsCacxLXRFgAABAgQIECBAgAABApsEhNNN8LOPVZ8AAQIECBAgQIAAAQKZBITTTNvSayQBvRAgQIAAAQIECBAgMFBAOB2IqRQBAiMF1CJAgAABAgQIEOgkIJx22rZZCRAg8FnAZwIECBAgQIBAIAHhNNAytEKAAAECtQRMQ4AAAQIECBwXEE6PW3mSAAECBAgQiCWgGwIECBAoJCCcFlqmUQgQIECAAAECYwVUI0CAwDoB4XSdtZMIECBAgAABAgQIfBXwjQCB/wSE0/8ofCBAgAABAgQIECBAoJqAefIICKd5dqVTAgQIECBAgAABAgQIRBMY1o9wOoxSIQIECBAgQIAAAQIECBC4KiCcPpNznQABAgQIECBAgAABAgSWCQiny6gd9F3AdwIECBAgQIAAAQIECPwREE7/SPhNoJ6AiQgQIECAAAECBAikERBO06xKowQIxBPQEQECBAgQIECAwCgB4XSUpDoECBAgMF5ARQIECBAgQKCNgHDaZtUGJUCAAAECPwVcIUCAAAECUQSE0yib0AcBAgQIECBQUcBMBAgQIHBQQDg9COUxAgQIECBAgACBiAJ6IkCgioBwWmWT5iBAgAABAgQIECAwQ0BNAosEhNNF0I4hQIAAAQIECBAgQIDAIwHXfgsIp78d/CRAgAABAgQIECBAgACBjQITw+nGqRxNgAABAgQIECBAgAABAqkEhNNU6/rWrK8ECBAgQIAAAQIECBAoIiCcFlmkMeYIqEqAAAECBAgQIECAwBoB4XSNs1MIEHgs4CoBAgQIECBAgACB/wkIp/9j8IMAAQJVBcxFgAABAgQIEMghIJzm2JMuCRAgQCCqgL4IECBAgACBIQLC6RBGRQgQIECAAIFZAuoSIECAQA8B4bTHnk1JgAABAgQIEHgm4DoBAgRCCAinIdagCQIECBAgQIAAgboCJiNA4IiAcHpEyTMECBAgQIAAAQIECMQV0FkJAeG0xBoNQYAAAQIECBAgQIAAgXkCKyoLpyuUnUGAAAECBAgQIECAAAECLwWah9OXNm4SIECAAAECBAgQIECAwCIB4XQRdNtjDE6AAAECBAgQIECAAIEDAsLpASSPEIgsoDcCBAgQIECAAAECFQSE0wpbNAMBAjMF1CZAgAABAgQIEFggIJwuQHYEAQIECLwScI8AAQIECBAg8PEhnPorIECAAAEC1QXMR4AAAQIEEggIpwmWpEUCBAgQIEAgtoDuCBAgQOC+gHB631AFAgQIECBAgACBuQKqEyDQQEA4bbBkIxIgQIAAAQIECBB4LeAugf0Cwun+HeiAAAECBAgQIECAAIHqAuZ7KyCcviXyAAECBAgQIECAAAECBAjMFrgbTmf3pz4BAgQIECBAgAABAgQINBAQTsMvWYMECBAgQIAAAQIECBCoLyCc1t+xCd8JuE+AAAECBAgQIECAwHYB4XT7CjRAoL6ACQkQIECAAAECBAi8ExBO3wm5T4AAgfgCOiRAgAABAgQIpBcQTtOv0AAECBAgMF/ACQQIECBAgMBsAeF0trD6BAgQIECAwHsBTxAgQIBAewHhtP2fAAACBAgQIECgg4AZCRAgEF1AOI2+If0RIECAAAECBAhkENAjAQI3BYTTm4BeJ0CAAAECBAgQIEBghYAzqgsIp9U3bD4CBAgQIECAAAECBAgcEdj8jHC6eQGOJ0CAAAECBAgQIECAAIGPjw7h1J4JECBAgAABAgQIECBAILiAcBp8QTna0yUBAgQIECBAgAABAgTuCQin9/y8TWCNgFMIECBAgAABAgQIFBcQTosv2HgECBwT8BQBAgQIECBAgMBeAeF0r7/TCRAg0EXAnAQIECBAgACBlwLC6UseNwkQIECAQBYBfRIgQIAAgdwCwmnu/emeAAECBAgQWCXgHAIECBCYKiCcTuVVnAABAgQIECBA4KiA5wgQ6C0gnPbev+kJECBAgAABAgT6CJiUQGgB4TT0ejRHgAABAgQIECBAgEAeAZ3eERBO7+h5lwABAgQIECBAgAABAgSGCBwKp0NOUoQAAQIECBAgQIAAAQIECDwREE6fwCy+7DgCBAgQIECAAAECBAi0FhBOW6+/0/BmJUCAAAECBAgQIEAgsoBwGnk7eiOQSUCvBAgQIECAAAECBG4ICKc38LxKgACBlQLOIkCAAAECBAhUFhBOK2/XbAQIECBwRsCzBAgQIECAwEYB4XQjvqMJECBAgEAvAdMSIECAAIHnAsLpcxt3CBAgQIAAAQK5BHRLgACBxALCaeLlaZ0AAQIECBAgQGCtgNMIEJgnIJzOs1WZAAECBAgQIECAAIFzAp5uLCCcNl6+0QkQIECAAAECBAgQ6CYQd17hNO5udEaAAAECBAgQIECAAIE2AmXCaZuNGZQAAQIECBAgQIAAAQIFBYTTgkudNJKyBAgQIECAAAECBAgQmCYgnE6jVZjAWQHPEyBAgAABAgQIEOgrIJz23b3JCfQTMDEB5RWF9wAADAxJREFUAgQIECBAgEBYAeE07Go0RoAAgXwCOiZAgAABAgQIXBUQTq/KeY8AAQIECKwXcCIBAgQIECgrIJyWXa3BCBAgQIAAgfMC3iBAgACBXQLC6S555xIgQIAAAQIEOgqYmQABAk8EhNMnMC4TIECAAAECBAgQyCigZwJZBYTTrJvTNwECBAgQIECAAAECOwScOUlAOJ0EqywBAgQIECBAgAABAgQIHBf4G06Pv+NJAgQIECBAgAABAgQIECAwVEA4Hcr5upi7BAgQIECAAAECBAgQIPBYQDh97OJqTgFdEyBAgAABAgQIECCQVEA4Tbo4bRPYI+BUAgQIECBAgAABAnMEhNM5rqoSIEDgmoC3CBAgQIAAAQJNBYTTpos3NgECBLoKmJsAAQIECBCIKSCcxtyLrggQIECAQFYBfRMgQIAAgUsCwuklNi8RIECAAAECBHYJOJcAAQI1BYTTmns1FQECBAgQIECAwFUB7xEgsEVAON3C7lACBAgQIECAAAECfQVMTuCRgHD6SMU1AgQIECBAgAABAgQI5BVI2blwmnJtmiZAgAABAgQIECBAgEAtgVzhtJa9aQgQIECAAAECBAgQIEDgXwHh9F8Iv34L+EmAAAECBAgQIECAAIEdAsLpDnVndhYwOwECBAgQIECAAAECDwSE0wcoLhEgkFlA7wQIECBAgAABAhkFhNOMW9MzAQIEdgo4mwABAgQIECAwQUA4nYCqJAECBAgQuCPgXQIECBAg0FFAOO24dTMTIECAAIHeAqYnQIAAgYACwmnApWiJAAECBAgQIJBbQPcECBA4LyCcnjfzBgECBAgQIECAAIG9Ak4nUFBAOC24VCMRIECAAAECBAgQIHBPwNvrBYTT9eZOJECAAAECBAgQIECAQHeBH/MLpz9IXCBAgAABAgQIECBAgACB1QLC6Whx9QgQIECAAAECBAgQIEDgtIBweprMC7sFnE+AAAECBAgQIECAQD0B4bTeTk1E4K6A9wkQIECAAAECBAgsFxBOl5M7kAABAgQIECBAgAABAgS+Cwin30V8J0CAAIH8AiYgQIAAAQIE0gkIp+lWpmECBAgQILBfQAcECBAgQGC0gHA6WlQ9AgQIECBAgMB9ARUIECDQTkA4bbdyAxMgQIAAAQIECHx8MCBAIJqAcBptI/ohQIAAAQIECBAgUEHADAROCginJ8E8ToAAAQIECBAgQIAAgQgC1XoQTqtt1DwECBAgQIAAAQIECBBIKBAwnCZU1DIBAgQIECBAgAABAgQI3BIQTm/xJX1Z2wQIECBAgAABAgQIEAgmIJwGW4h2agiYggABAgQIECBAgACBcwLC6TkvTxMgEENAFwQIECBAgAABAsUEhNNiCzUOAQIExgioQoAAAQIECBBYKyCcrvV2GgECBAgQ+C3gJwECBAgQIPBFQDj9wuELAQIECBAgUEXAHAQIECCQS0A4zbUv3RIgQIAAAQIEogjogwABAkMFhNOhnIoRIECAAAECBAgQGCWgDoFeAsJpr32blgABAgQIECBAgACBPwJ+hxIQTkOtQzMECBAgQIAAAQIECBCoI3BmEuH0jJZnCRAgQIAAAQIECBAgQGCKgHB6idVLBAgQIECAAAECBAgQIDBSQDgdqanWOAGVCBAgQIAAAQIECBBoJSCctlq3YQn8FfCJAAECBAgQIECAQCQB4TTSNvRCgEAlAbMQIECAAAECBAicEBBOT2B5lAABAgQiCeiFAAECBAgQqCQgnFbaplkIECBAgMBIAbUIECBAgMBCAeF0IbajCBAgQIAAAQKfBXwmQIAAgb8CwulfC58IECBAgAABAgRqCZiGAIFEAsJpomVplQABAgQIECBAgEAsAd0QGCcgnI6zVIkAAQIECBAgQIAAAQJjBRpVE04bLduoBAgQIECAAAECBAgQiCqwK5xG9dAXAQIECBAgQIAAAQIECGwQEE43oK850ikECBAgQIAAAQIECBDIIyCc5tmVTqMJ6IcAAQIECBAgQIAAgWECwukwSoUIEBgtoB4BAgQIECBAgEAfAeG0z65NSoAAge8CvhMgQIAAAQIEwggIp2FWoRECBAgQqCdgIgIECBAgQOCogHB6VMpzBAgQIECAQDwBHREgQIBAGQHhtMwqDUKAAAECBAgQGC+gIgECBFYJCKerpJ1DgAABAgQIECBA4KeAKwQI/CsgnP4L4RcBAgQIECBAgAABAhUFzJRFQDjNsil9EiBAgAABAgQIECBAIKLAoJ6E00GQyhAgQIAAAQIECBAgQIDAdQHh9LmdOwQIECBAgAABAgQIECCwSEA4XQTtmEcCrhEgQIAAAQIECBAgQOC3gHD628FPAjUFTEWAAAECBAgQIEAgiYBwmmRR2iRAIKaArggQIECAAAECBMYICKdjHFUhQIAAgTkCqhIgQIAAAQJNBITTJos2JgECBAgQeCzgKgECBAgQiCEgnMbYgy4IECBAgACBqgLmIkCAAIFDAsLpISYPESBAgAABAgQIRBXQFwECNQSE0xp7NAUBAgQIECBAgACBWQLqElgiIJwuYXYIAQIECBAgQIAAAQIEngm4/ktAOP2l4B8BAgQIECBAgAABAgQIbBWYGk63TuZwAgQIECBAgAABAgQIEEgjIJymWdXDRl0kQIAAAQIECBAgQIBACQHhtMQaDTFPQGUCBAgQIECAAAECBFYICKcrlJ1BgMBzAXcIECBAgAABAgQI/CMgnP6D4D8CBAhUFjAbAQIECBAgQCCDgHCaYUt6JECAAIHIAnojQIAAAQIEBggIpwMQlSBAgAABAgRmCqhNgAABAh0EhNMOWzYjAQIECBAgQOCVgHsECBAIICCcBliCFggQIECAAAECBGoLmI4AgfcCwul7I08QIECAAAECBAgQIBBbQHcFBITTAks0AgECBAgQIECAAAECBOYKzK8unM43dgIBAgQIECBAgAABAgQIvBFoH07f+LhNgAABAgQIECBAgAABAgsEhNMFyM2PMD4BAgQIECBAgAABAgTeCginb4k8QCC6gP4IECBAgAABAgQI5BcQTvPv0AQECMwWUJ8AAQIECBAgQGC6gHA6ndgBBAgQIPBOwH0CBAgQIECAgHDqb4AAAQIECNQXMCEBAgQIEAgvIJyGX5EGCRAgQIAAgfgCOiRAgACBuwLC6V1B7xMgQIAAAQIECMwXcAIBAuUFhNPyKzYgAQIECBAgQIAAgfcCniCwW0A43b0B5xMgQIAAAQIECBAg0EHAjG8EhNM3QG4TIECAAAECBAgQIECAwHyB++F0fo9OIECAAAECBAgQIECAAIHiAsJpggVrkQABAgQIECBAgAABAtUFhNPqGzbfEQHPECBAgAABAgQIECCwWUA43bwAxxPoIWBKAgQIECBAgAABAq8FhNPXPu4SIEAgh4AuCRAgQIAAAQLJBYTT5AvUPgECBAisEXAKAQIECBAgMFdAOJ3rqzoBAgQIECBwTMBTBAgQINBcQDht/gdgfAIECBAgQKCLgDkJECAQW0A4jb0f3REgQIAAAQIECGQR0CcBArcEhNNbfF4mQIAAAQIECBAgQGCVgHNqCwintfdrOgIECBAgQIAAAQIECBwV2PqccLqV3+EECBAgQIAAAQIECBAg8EugRzj9Nal/BAgQIECAAAECBAgQIBBWQDgNu5pcjemWAAECBAgQIECAAAECdwSE0zt63iWwTsBJBAgQIECAAAECBEoLCKel12s4AgSOC3iSAAECBAgQIEBgp4BwulPf2QQIEOgkYFYCBAgQIECAwAsB4fQFjlsECBAgQCCTgF4JECBAgEBmAeE08/b0ToAAAQIECKwUcBYBAgQITBQQTifiKk2AAAECBAgQIHBGwLMECHQWEE47b9/sBAgQIECAAAECvQRMSyCwgHAaeDlaI0CAAAECBAgQIEAgl4BurwsIp9ftvEmAAAECBAgQIECAAAECgwQOhtNBpylDgAABAgQIECBAgAABAgQeCAinD1C2XHIoAQIECBAgQIAAAQIEGgsIp42X32108xIgQIAAAQIECBAgEFdAOI27G50RyCagXwIECBAgQIAAAQKXBYTTy3ReJECAwGoB5xEgQIAAAQIE6gr8PwAAAP//F58BYwAAAAZJREFUAwA4cwblU3DcWAAAAABJRU5ErkJggg=="/>
          <p:cNvSpPr>
            <a:spLocks noGrp="1" noChangeAspect="1" noChangeArrowheads="1"/>
          </p:cNvSpPr>
          <p:nvPr>
            <p:ph type="ctrTitle"/>
          </p:nvPr>
        </p:nvSpPr>
        <p:spPr bwMode="auto">
          <a:xfrm>
            <a:off x="600075" y="752475"/>
            <a:ext cx="11591925" cy="971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Biobank &amp; </a:t>
            </a:r>
            <a:r>
              <a:rPr 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Biospecimen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Management System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 descr="data:image/png;base64,iVBORw0KGgoAAAANSUhEUgAAA6cAAANyCAYAAACe773sAAAQAElEQVR4Aezc525c2Y4GUGHe/6Gnfd1uK1Q4YQeGNWhLVSdwk4v68+EC838f/o8AAQIECBAgQIAAAQIECGwWEE6nL8ABBAgQIECAAAECBAgQIPBOQDh9J+R+fAEdEiBAgAABAgQIECCQXkA4Tb9CAxCYL+AEAgQIECBAgAABArMFhNPZwuoTIEDgvYAnCBAgQIAAAQLtBYTT9n8CAAgQINBBwIwECBAgQIBAdAHhNPqG9EeAAAECBDII6JEAAQIECNwUEE5vAnqdAAECBAgQILBCwBkECBCoLiCcVt+w+QgQIECAAAECBI4IeIYAgc0CwunmBTieAAECBAgQIECAQA8BUxJ4LSCcvvZxlwABAgQIECBAgAABAjkEkncpnCZfoPYJECBAgAABAgQIECBQQSBDOK3gbAYCBAgQIECAAAECBAgQeCEgnL7A6XPLpAQIECBAgAABAgQIENgrIJzu9Xd6FwFzEiBAgAABAgQIECDwUkA4fcnjJgECWQT0SYAAAQIECBAgkFtAOM29P90TIEBglYBzCBAgQIAAAQJTBYTTqbyKEyBAgACBowKeI0CAAAECvQWE0977Nz0BAgQIEOgjYFICBAgQCC0gnIZej+YIECBAgAABAnkEdEqAAIE7AsLpHT3vEiBAgAABAgQIEFgn4CQCpQWE09LrNRwBAgQIECBAgAABAscFPLlTQDjdqe9sAgQIECBAgAABAgQIdBJ4Matw+gLHLQIECBAgQIAAAQIECBBYIyCcjnFWhQABAgQIECBAgAABAgRuCAinN/C8ulLAWQQIECBAgAABAgQIVBYQTitv12wEzgh4lgABAgQIECBAgMBGAeF0I76jCRDoJWBaAgQIECBAgACB5wLC6XMbdwgQIEAgl4BuCRAgQIAAgcQCwmni5WmdAAECBAisFXAaAQIECBCYJyCczrNVmQABAgQIECBwTsDTBAgQaCwgnDZevtEJECBAgAABAt0EzEuAQFwB4TTubnRGgAABAgQIECBAIJuAfglcFhBOL9N5kQABAgQIECBAgAABAqsF6p4nnNbdrckIECBAgAABAgQIECCQRiBMOE0jplECBAgQIECAAAECBAgQGC4gnA4nDVtQYwQIECBAgAABAgQIEAgrIJyGXY3G8gnomAABAgQIECBAgACBqwLC6VU57xEgsF7AiQQIECBAgAABAmUFhNOyqzUYAQIEzgt4gwABAgQIECCwS0A43SXvXAIECBDoKGBmAgQIECBA4ImAcPoExmUCBAgQIEAgo4CeCRAgQCCrgHCadXP6JkCAAAECBAjsEHAmAQIEJgkIp5NglSVAgAABAgQIECBwRcA7BLoKCKddN29uAgQIECBAgAABAj0FTB1UQDgNuhhtESBAgAABAgQIECBAIKfAta6F02tu3iJAgAABAgQIECBAgACBgQLC6QlMjxIgQIAAAQIECBAgQIDAHAHhdI6rqtcEvEWAAAECBAgQIECAQFMB4bTp4o3dVcDcBAgQIECAAAECBGIKCKcx96IrAgSyCuibAAECBAgQIEDgkoBweonNSwQIECCwS8C5BAgQIECAQE0B4bTmXk1FgAABAgSuCniPAAECBAhsERBOt7A7lAABAgQIEOgrYHICBAgQeCQgnD5ScY0AAQIECBAgQCCvgM4JEEgpIJymXJumCRAgQIAAAQIECOwTcDKBGQLC6QxVNQkQIECAAAECBAgQIHBdoOWbwmnLtRuaAAECBAgQIECAAAECsQTWhtNYs+uGAAECBAgQIECAAAECBIIICKdBFjGqDXUIECBAgAABAgQIECCQUUA4zbg1Pe8UcDYBAgQIECBAgAABAhMEhNMJqEoSIHBHwLsECBAgQIAAAQIdBYTTjls3MwECvQVMT4AAAQIECBAIKCCcBlyKlggQIEAgt4DuCRAgQIAAgfMCwul5M28QIECAAAECewWcToAAAQIFBYTTgks1EgECBAgQIEDgnoC3CRAgsF5AOF1v7kQCBAgQIECAAIHuAuYnQOCHgHD6g8QFAgQIECBAgAABAgSyC+g/n4Bwmm9nOiZAgAABAgQIECBAgMBugeHnC6fDSRUkQIAAAQIECBAgQIAAgbMCwul3Md8JECBAgAABAgQIECBAYLmAcLqc3IEECBAgQIAAAQIECBAg8F1AOP0u4juB/AImIECAAAECBAgQIJBOQDhNtzINEyCwX0AHBAgQIECAAAECowWE09Gi6hEgQIDAfQEVCBAgQIAAgXYCwmm7lRuYAAECBAh8fDAgQIAAAQLRBITTaBvRDwECBAgQIFBBwAwECBAgcFJAOD0J5nECBAgQIECAAIEIAnogQKCagHBabaPmIUCAAAECBAgQIDBCQA0CiwWE08XgjiNAgAABAgQIECBAgMAvAf++CginXz18I0CAAAECBAgQIECAAIENAhPC6YYpHEmAAAECBAgQIECAAAECqQWE04zr0zMBAgQIECBAgAABAgSKCQinxRZqnDECqhAgQIAAAQIECBAgsFZAOF3r7TQCBH4L+EmAAAECBAgQIEDgi4Bw+oXDFwIECFQRMAcBAgQIECBAIJeAcJprX7olQIAAgSgC+iBAgAABAgSGCginQzkVI0CAAAECBEYJqEOAAAECvQSE0177Ni0BAgQIECBA4I+A3wQIEAglIJyGWodmCBAgQIAAAQIE6giYhACBMwLC6RktzxIgQIAAAQIECBAgEEdAJ6UEhNNS6zQMAQIECBAgQIAAAQIExgmsrCScrtR2FgECBAgQIECAAAECBAg8FGgaTh9auEiAAAECBAgQIECAAAECmwSE003w5Y81IAECBAgQIECAAAECBE4ICKcnsDxKIJKAXggQIECAAAECBAhUEhBOK23TLAQIjBRQiwABAgQIECBAYKGAcLoQ21EECBAg8FnAZwIECBAgQIDAXwHh9K+FTwQIECBAoJaAaQgQIECAQCIB4TTRsrRKgAABAgQIxBLQDQECBAiMExBOx1mqRIAAAQIECBAgMFZANQIEGgkIp42WbVQCBAgQIECAAAECXwV8IxBHQDiNswudECBAgAABAgQIECBQTcA8hwWE08NUHiRAgAABAgQIECBAgACBWQJXw+msftQlQIAAAQIECBAgQIAAgYYCwmnYpWuMAAECBAgQIECAAAECfQSE0z67Nul3Ad8JECBAgAABAgQIEAgjIJyGWYVGCNQTMBEBAgQIECBAgACBowLC6VEpzxEgQCCegI4IECBAgAABAmUEhNMyqzQIAQIECIwXUJEAAQIECBBYJSCcrpJ2DgECBAgQIPBTwBUCBAgQIPCvgHD6L4RfBAgQIECAAIGKAmYiQIBAFgHhNMum9EmAAAECBAgQIBBRQE8ECAwSEE4HQSpDgAABAgQIECBAgMAMATW7CAinXTZtTgIECBAgQIAAAQIECDwSCHJNOA2yCG0QIECAAAECBAgQIECgs0DlcNp5r2YnQIAAAQIECBAgQIBAKgHhNNW6ojWrHwIECBAgQIAAAQIECIwREE7HOKpCYI6AqgQIECBAgAABAgSaCAinTRZtTAIEHgu4SoAAAQIECBAgEENAOI2xB10QIECgqoC5CBAgQIAAAQKHBITTQ0weIkCAAAECUQX0RYAAAQIEaggIpzX2aAoCBAgQIEBgloC6BAgQILBEQDhdwuwQAgQIECBAgACBZwKuEyBA4JeAcPpLwT8CBAgQIECAAAECdQVMRiCFgHCaYk2aJECAAAECBAgQIEAgroDORggIpyMU1SBAgAABAgQIECBAgACBWwIvw+mtyl4mQIAAAQIECBAgQIAAAQIHBYTTg1CTHlOWAAECBAgQIECAAAECBP4REE7/QfBfZQGzESBAgAABAgQIECCQQUA4zbAlPRKILKA3AgQIECBAgAABAgMEhNMBiEoQIEBgpoDaBAgQIECAAIEOAsJphy2bkQABAgReCbhHgAABAgQIBBAQTgMsQQsECBAgQKC2gOkIECBAgMB7AeH0vZEnCBAgQIAAAQKxBXRHgACBAgLCaYElGoEAAQIECBAgQGCugOoECMwXEE7nGzuBAAECBAgQIECAAIHXAu4S+BBO/REQIECAAAECBAgQIECgvED8AYXT+DvSIQECBAgQIECAAAECBMoLpA+n5TdkQAIECBAgQIAAAQIECDQQEE4bLPnmiF4nQIAAAQIECBAgQIDAdAHhdDqxAwi8E3CfAAECBAgQIECAAAHh1N8AAQL1BUxIgAABAgQIECAQXkA4Db8iDRIgQCC+gA4JECBAgAABAncFhNO7gt4nQIAAAQLzBZxAgAABAgTKCwin5VdsQAIECBAgQOC9gCcIECBAYLeAcLp7A84nQIAAAQIECHQQMCMBAgTeCAinb4DcJkCAAAECBAgQIJBBQI8EsgsIp9k3qH8CBAgQIECAAAECBFYIOGOygHA6GVh5AgQIECBAgAABAgQIEHgv8H8f75/xBAECBAgQIECAAAECBAgQmCrgfzmdyvu7uJ8ECBAgQIAAAQIECBAg8FpAOH3t424OAV0SIECAAAECBAgQIJBcQDhNvkDtE1gj4BQCBAgQIECAAAECcwWE07m+qhMgQOCYgKcIECBAgAABAs0FhNPmfwDGJ0CAQBcBcxIgQIAAAQKxBYTT2PvRHQECBAgQyCKgTwIECBAgcEtAOL3F52UCBAgQIECAwCoB5xAgQKC2gHBae7+mI0CAAAECBAgQOCrgOQIEtgoIp1v5HU6AAAECBAgQIECgj4BJCbwSEE5f6bhHgAABAgQIECBAgACBPAKpOxVOU69P8wQIECBAgAABAgQIEKghkCOc1rA2BQECBAgQIECAAAECBAg8ERBOn8B0u2xeAgQIECBAgAABAgQI7BQQTnfqO7uTgFkJECBAgAABAgQIEHghIJy+wHGLAIFMAnolQIAAAQIECBDILCCcZt6e3gkQILBSwFkECBAgQIAAgYkCwulEXKUJECBAgMAZAc8SIECAAIHOAsJp5+2bnQABAgQI9BIwLQECBAgEFhBOAy9HawQIECBAgACBXAK6JUCAwHUB4fS6nTcJECBAgAABAgQIrBVwGoHCAsJp4eUajQABAgQIECBAgACBcwKe3icgnO6zdzIBAgQIECBAgAABAgS6CTydVzh9SuMGAQIECBAgQIAAAQIECKwSEE5HSatDgAABAgQIECBAgAABApcFhNPLdF5cLeA8AgQIECBAgAABAgTqCgindXdrMgJnBTxPgAABAgQIECBAYJuAcLqN3sEECPQTMDEBAgQIECBAgMAzAeH0mYzrBAgQIJBPQMcECBAgQIBAWgHhNO3qNE6AAAECBNYLOJEAAQIECMwSEE5nyapLgAABAgQIEDgv4A0CBAi0FRBO267e4AQIECBAgACBjgJmJkAgqoBwGnUz+iJAgAABAgQIECCQUUDPBC4KCKcX4bxGgAABAgQIECBAgACBHQJVzxROq27WXAQIECBAxZilGgAAEABJREFUgAABAgQIEEgkECicJlLTKgECBAgQIECAAAECBAgMFRBOh3IGL6Y9AgQIECBAgAABAgQIBBUQToMuRls5BXRNgAABAgQIECBAgMA1AeH0mpu3CBDYI+BUAgQIECBAgACBogLCadHFGosAAQLXBLxFgAABAgQIENgjIJzucXcqAQIECHQVMDcBAgQIECDwUEA4fcjiIgECBAgQIJBVQN8ECBAgkFNAOM25N10TIECAAAECBHYJOJcAAQJTBITTKayKEiBAgAABAgQIELgq4D0CPQWE0557NzUBAgQIECBAgACBvgImDykgnIZci6YIECBAgAABAgQIECCQV+BK58LpFTXvECBAgAABAgQIECBAgMBQAeH0FKeHCRAgQIAAAQIECBAgQGCGgHA6Q1XN6wLeJECAAAECBAgQIECgpYBw2nLthu4sYHYCBAgQIECAAAECEQWE04hb0RMBApkF9E6AAAECBAgQIHBBQDi9gOYVAgQIENgp4GwCBAgQIECgooBwWnGrZiJAgAABAncEvEuAAAECBDYICKcb0B1JgAABAgQI9BYwPQECBAj8FBBOf5q4QoAAAQIECBAgkFtA9wQIJBQQThMuTcsECBAgQIAAAQIE9go4ncB4AeF0vKmKBAgQIECAAAECBAgQuCfQ8G3htOHSjUyAAAECBAgQIECAAIFoAqvDabT59UOAAAECBAgQIECAAAECAQSE0wBLGNuCagQIECBAgAABAgQIEMgnIJzm25mOdws4nwABAgQIECBAgACB4QLC6XBSBQkQuCvgfQIECBAgQIAAgX4Cwmm/nZuYAAECBAgQIECAAAEC4QSE03Ar0RABAgQI5BcwAQECBAgQIHBWQDg9K+Z5AgQIECBAYL+ADggQIECgnIBwWm6lBiJAgAABAgQI3BdQgQABAqsFhNPV4s4jQIAAAQIECBAg8PHBgACBbwLC6TcQXwkQIECAAAECBAgQqCBghmwCwmm2jemXAAECBAgQIECAAAECEQQG9yCcDgZVjgABAgQIECBAgAABAgTOCwinP81cIUCAAAECBAgQIECAAIHFAsLpYnDH/RLwjwABAgQIECBAgAABAl8FhNOvHr4RqCFgCgIECBAgQIAAAQLJBITTZAvTLgECMQR0QYAAAQIECBAgMFZAOB3rqRoBAgQIjBFQhQABAgQIEGgmIJw2W7hxCRAgQIDAbwE/CRAgQIBALAHhNNY+dEOAAAECBAhUETAHAQIECJwSEE5PcXmYAAECBAgQIEAgioA+CBCoJSCc1tqnaQgQIECAAAECBAiMElCHwFIB4XQpt8MIECBAgAABAgQIECDwR8DvzwLC6WcNnwkQIECAAAECBAgQIEBgi8CUcLplEocSIECAAAECBAgQIECAQFoB4TTn6nRNgAABAgQIECBAgACBUgLCaal1GmacgEoECBAgQIAAAQIECKwUEE5XajuLAIG/Aj4RIECAAAECBAgQ+CQgnH7C8JEAAQKVBMxCgAABAgQIEMgkIJxm2pZeCRAgQCCSgF4IECBAgACBgQLC6UBMpQgQIECAAIGRAmoRIECAQCcB4bTTts1KgAABAgQIEPgs4DMBAgQCCQingZahFQIECBAgQIAAgVoCpiFA4LiAcHrcypMECBAgQIAAAQIECMQS0E0hAeG00DKNQoAAAQIECBAgQIAAgbEC66oJp+usnUSAAAECBAgQIECAAAECTwTahtMnHi4TIECAAAECBAgQIECAwAYB4XQDepMjjUmAAAECBAgQIECAAIHDAsLpYSoPEogmoB8CBAgQIECAAAECdQSE0zq7NAkBAqMF1CNAgAABAgQIEFgmIJwuo3YQAQIECHwX8J0AAQIECBAg8EdAOP0j4TcBAgQIEKgnYCICBAgQIJBGQDhNsyqNEiBAgAABAvEEdESAAAECowSE01GS6hAgQIAAAQIECIwXUJEAgTYCwmmbVRuUAAECBAgQIECAwE8BVwhEERBOo2xCHwQIECBAgAABAgQIVBQw00EB4fQglMcIECBAgAABAgQIECBAYJ7A9XA6ryeVCRAgQIAAAQIECBAgQKCZgHAaeOFaI0CAAAECBAgQIECAQBcB4bTLps35SMA1AgQIECBAgAABAgSCCAinQRahDQI1BUxFgAABAgQIECBA4JiAcHrMyVMECBCIKaArAgQIECBAgEARAeG0yCKNQYAAAQJzBFQlQIAAAQIE1ggIp2ucnUKAAAECBAg8FnCVAAECBAj8T0A4/R+DHwQIECBAgACBqgLmIkCAQA4B4TTHnnRJgAABAgQIECAQVUBfBAgMERBOhzAqQoAAAQIECBAgQIDALAF1ewgIpz32bEoCBAgQIECAAAECBAg8EwhxXTgNsQZNECBAgAABAgQIECBAoLdA7XDae7emJ0CAAAECBAgQIECAQBoB4TTNqmI2qisCBAgQIECAAAECBAiMEBBORyiqQWCegMoECBAgQIAAAQIEWggIpy3WbEgCBJ4LuEOAAAECBAgQIBBBQDiNsAU9ECBAoLKA2QgQIECAAAECBwSE0wNIHiFAgAABApEF9EaAAAECBCoICKcVtmgGAgQIECBAYKaA2gQIECCwQEA4XYDsCAIECBAgQIAAgVcC7hEgQODjQzj1V0CAAAECBAgQIECguoD5CCQQEE4TLEmLBAgQIECAAAECBAjEFtDdfQHh9L6hCgQIECBAgAABAgQIECBwU+BNOL1Z3esECBAgQIAAAQIECBAgQOCAgHB6AGnqI4oTIECAAAECBAgQIECAgP+HSP4G6guYkAABAgQIECBAgACB+AL+l9P4O9IhgegC+iNAgAABAgQIECBwW0A4vU2oAAECBGYLqE+AAAECBAgQqC8gnNbfsQkJECBA4J2A+wQIECBAgMB2AeF0+wo0QIAAAQIE6guYkAABAgQIvBMQTt8JuU+AAAECBAgQiC+gQwIECKQXEE7Tr9AABAgQIECAAAEC8wWcQIDAbAHhdLaw+gQIECBAgAABAgQIvBfwRHsB4bT9nwAAAgQIECBAgAABAgQ6CESfUTiNviH9ESBAgAABAgQIECBAoIFAgXDaYEtGJECAAAECBAgQIECAQHEB4bT4goeMpwgBAgQIECBAgAABAgQmCwink4GVJ3BEwDMECBAgQIAAAQIEugsIp93/AsxPoIeAKQkQIECAAAECBIILCKfBF6Q9AgQI5BDQJQECBAgQIEDgnoBwes/P2wQIECBAYI2AUwgQIECAQHEB4bT4go1HgAABAgQIHBPwFAECBAjsFRBO9/o7nQABAgQIECDQRcCcBAgQeCkgnL7kcZMAAQIECBAgQIBAFgF9EsgtIJzm3p/uCRAgQIAAAQIECBBYJeCcqQLC6VRexQkQIECAAAECBAgQIEDgiMCvcHrkOc8QIECAAAECBAgQIECAAIFpAsLpNNrPhX0mQIAAAQIECBAgQIAAgVcCwukrHffyCOiUAAECBAgQIECAAIHUAsJp6vVpnsA6AScRIECAAAECBAgQmCkgnM7UVZsAAQLHBTxJgAABAgQIEGgtIJy2Xr/hCRAg0EnArAQIECBAgEBkAeE08nb0RoAAAQIEMgnolQABAgQI3BAQTm/geZUAAQIECBAgsFLAWQQIEKgsIJxW3q7ZCBAgQIAAAQIEzgh4lgCBjQLC6UZ8RxMgQIAAAQIECBDoJWBaAs8FhNPnNu4QIECAAAECBAgQIEAgl0DiboXTxMvTOgECBAgQIECAAAECBKoIZAmnVbzNQYAAAQIECBAgQIAAAQIPBITTByg9L5maAAECBAgQIECAAAEC+wSE0332Tu4mYF4CBAgQIECAAAECBJ4KCKdPadwgQCCbgH4JECBAgAABAgTyCgineXencwIECKwWcB4BAgQIECBAYJqAcDqNVmECBAgQIHBWwPMECBAgQKCvgHDad/cmJ0CAAAEC/QRMTIAAAQJhBYTTsKvRGAECBAgQIEAgn4COCRAgcFVAOL0q5z0CBAgQIECAAAEC6wWcSKCsgHBadrUGI0CAAAECBAgQIEDgvIA3dgkIp7vknUuAAAECBAgQIECAAIGOAk9mFk6fwLhMgAABAgQIECBAgAABAusEhNNx1ioRIECAAAECBAgQIECAwEUB4fQinNd2CDiTAAECBAgQIECAAIGqAsJp1c2ai8AVAe8QIECAAAECBAgQ2CQgnG6CdywBAj0FTE2AAAECBAgQIPBYQDh97OIqAQIECOQU0DUBAgQIECCQVEA4Tbo4bRMgQIAAgT0CTiVAgAABAnMEhNM5rqoSIECAAAECBK4JeIsAAQJNBYTTpos3NgECBAgQIECgq4C5CRCIKSCcxtyLrggQIECAAAECBAhkFdA3gUsCwuklNi8RIECAAAECBAgQIEBgl0DNc4XTmns1FQECBAgQIECAAAECBFIJhAqnqeQ0S4AAAQIECBAgQIAAAQLDBITTYZQpCmmSAAECBAgQIECAAAECIQWE05Br0VReAZ0TIECAAAECBAgQIHBFQDi9ouYdAgT2CTiZAAECBAgQIECgpIBwWnKthiJAgMB1AW8SIECAAAECBHYICKc71J1JgAABAp0FzE6AAAECBAg8EBBOH6C4RIAAAQIECGQW0DsBAgQIZBQQTjNuTc8ECBAgQIAAgZ0CziZAgMAEAeF0AqqSBAgQIECAAAECBO4IeJdARwHhtOPWzUyAAAECBAgQIECgt4DpAwoIpwGXoiUCBAgQIECAAAECBAjkFjjfvXB63swbBAgQIECAAAECBAgQIDBYQDg9CepxAgQIECBAgAABAgQIEBgvIJyON1XxnoC3CRAgQIAAAQIECBBoKCCcNly6kbsLmJ8AAQIECBAgQIBAPAHhNN5OdESAQHYB/RMgQIAAAQIECJwWEE5Pk3mBAAECBHYLOJ8AAQIECBCoJyCc1tupiQgQIECAwF0B7xMgQIAAgeUCwulycgcSIECAAAECBAgQIECAwHcB4fS7iO8ECBAgQIAAAQL5BUxAgEA6AeE03co0TIAAAQIECBAgQGC/gA4IjBYQTkeLqkeAAAECBAgQIECAAIH7Au0qCKftVm5gAgQIECBAgAABAgQIxBNYH07jGeiIAAECBAgQIECAAAECBDYLCKebFzDjeDUJECBAgAABAgQIECCQTUA4zbYx/UYQ0AMBAgQIECBAgAABAoMFhNPBoMoRIDBCQA0CBAgQIECAAIFuAsJpt42blwABAr8E/CNAgAABAgQIBBMQToMtRDsECBAgUEPAFAQIECBAgMA5AeH0nJenCRAgQIAAgRgCuiBAgACBYgLCabGFGocAAQIECBAgMEZAFQIECKwVEE7XejuNAAECBAgQIECAwG8BPwkQ+CIgnH7h8IUAAQIECBAgQIAAgSoC5sglIJzm2pduCRAgQIAAAQIECBAgEEVgaB/C6VBOxQgQIECAAAECBAgQIEDgioBw+kjNNQIECBAgQIAAAe9ZD0gAABAASURBVAIECBBYKiCcLuV22B8BvwkQIECAAAECBAgQIPBZQDj9rOEzgToCJiFAgAABAgQIECCQSkA4TbUuzRIgEEdAJwQIECBAgAABAiMFhNORmmoRIECAwDgBlQgQIECAAIFWAsJpq3UblgABAgQI/BXwiQABAgQIRBIQTiNtQy8ECBAgQIBAJQGzECBAgMAJAeH0BJZHCRAgQIAAAQIEIgnohQCBSgLCaaVtmoUAAQIECBAgQIDASAG1CCwUEE4XYjuKAAECBAgQIECAAAECnwV8/isgnP618IkAAQIECBAgQIAAAQIENglMCqebpnEsAQIECBAgQIAAAQIECKQUEE5Tru3j40PfBAgQIECAAAECBAgQKCQgnBZaplHGCqhGgAABAgQIECBAgMA6AeF0nbWTCBD4KuAbAQIECBAgQIAAgf8EhNP/KHwgQIBANQHzECBAgAABAgTyCAineXalUwIECBCIJqAfAgQIECBAYJiAcDqMUiECBAgQIEBgtIB6BAgQINBHQDjts2uTEiBAgAABAgS+C/hOgACBMALCaZhVaIQAAQIECBAgQKCegIkIEDgqIJwelfIcAQIECBAgQIAAAQLxBHRURkA4LbNKgxAgQIAAAQIECBAgQGC8wKqKwukqaecQIECAAAECBAgQIECAwFOBxuH0qYkbBAgQIECAAAECBAgQILBYQDhdDN7qOMMSIECAAAECBAgQIEDgoIBwehDKYwQiCuiJAAECBAgQIECAQBUB4bTKJs1BgMAMATUJECBAgAABAgQWCQini6AdQ4AAAQKPBFwjQIAAAQIECPwWEE5/O/hJgAABAgRqCpiKAAECBAgkERBOkyxKmwQIECBAgEBMAV0RIECAwBgB4XSMoyoECBAgQIAAAQJzBFQlQKCJgHDaZNHGJECAAAECBAgQIPBYwFUCMQSE0xh70AUBAgQIECBAgAABAlUFzHVIQDg9xOQhAgQIECBAgAABAgQIEJgpcCeczuxLbQIECBAgQIAAAQIECBBoJCCchl625ggQIECAAAECBAgQINBDQDjtsWdTPhNwnQABAgQIECBAgACBEALCaYg1aIJAXQGTESBAgAABAgQIEDgiIJweUfIMAQIE4grojAABAgQIECBQQkA4LbFGQxAgQIDAPAGVCRAgQIAAgRUCwukKZWcQIECAAAECzwXcIUCAAAEC/wgIp/8g+I8AAQIECBAgUFnAbAQIEMggIJxm2JIeCRAgQIAAAQIEIgvojQCBAQLC6QBEJQgQIECAAAECBAgQmCmgdgcB4bTDls1IgAABAgQIECBAgACBVwIB7gmnAZagBQIECBAgQIAAAQIECHQXqB5Ou+/X/AQIECBAgAABAgQIEEghIJymWFPkJvVGgAABAgQIECBAgACB+wLC6X1DFQjMFVCdAAECBAgQIECAQAMB4bTBko1IgMBrAXcJECBAgAABAgT2Cwin+3egAwIECFQXMB8BAgQIECBA4K2AcPqWyAMECBAgQCC6gP4IECBAgEB+AeE0/w5NQIAAAQIECMwWUJ8AAQIEpgsIp9OJHUCAAAECBAgQIPBOwH0CBAgIp/4GCBAgQIAAAQIECNQXMCGB8ALCafgVaZAAAQIECBAgQIAAgfgCOrwrIJzeFfQ+AQIECBAgQIAAAQIECNwWeBtOb5+gAAECBAgQIECAAAECBAgQeCMgnL4BWnDbEQQIECBAgAABAgQIEGgvIJy2/xPoAGBGAgQIECBAgAABAgSiCwin0TekPwIZBPRIgAABAgQIECBA4KaAcHoT0OsECBBYIeAMAgQIECBAgEB1AeG0+obNR4AAAQJHBDxDgAABAgQIbBYQTjcvwPEECBAgQKCHgCkJECBAgMBrAeH0tY+7BAgQIECAAIEcArokQIBAcgHhNPkCtU+AAAECBAgQILBGwCkECMwVEE7n+qpOgAABAgQIECBAgMAxAU81FxBOm/8BGJ8AAQIECBAgQIAAgS4CsecUTmPvR3cECBAgQIAAAQIECBBoIVAinLbYlCEJECBAgAABAgQIECBQWEA4LbzcgaMpRYAAAQIECBAgQIAAgakCwulUXsUJHBXwHAECBAgQIECAAIHeAsJp7/2bnkAfAZMSIECAAAECBAiEFhBOQ69HcwQIEMgjoFMCBAgQIECAwB0B4fSOnncJECBAgMA6AScRIECAAIHSAsJp6fUajgABAgQIEDgu4EkCBAgQ2CkgnO7UdzYBAgQIECBAoJOAWQkQIPBCQDh9geMWAQIECBAgQIAAgUwCeiWQWUA4zbw9vRMgQIAAAQIECBAgsFLAWRMFhNOJuEoTIECAAAECBAgQIECAwDGB3+H02LOeIkCAAAECBAgQIECAAAECUwSE0ymsP4u6QoAAAQIECBAgQIAAAQLPBYTT5zbu5BLQLQECBAgQIECAAAECiQWE08TL0zqBtQJOI0CAAAECBAgQIDBPQDidZ6syAQIEzgl4mgABAgQIECDQWEA4bbx8oxMgQKCbgHkJECBAgACBuALCadzd6IwAAQIECGQT0C8BAgQIELgsIJxepvMiAQIECBAgQGC1gPMIECBQV0A4rbtbkxEgQIAAAQIECJwV8DwBAtsEhNNt9A4mQIAAAQIECBAg0E/AxASeCQinz2RcJ0CAAAECBAgQIECAQD6BtB0Lp2lXp3ECBAgQIECAAAECBAjUEcgTTuuYm4QAAQIECBAgQIAAAQIEvgkIp99AOn81OwECBAgQIECAAAECBHYJCKe75J3bUcDMBAgQIECAAAECBAg8ERBOn8C4TIBARgE9EyBAgAABAgQIZBUQTrNuTt8ECBDYIeBMAgQIECBAgMAkAeF0EqyyBAgQIEDgioB3CBAgQIBAVwHhtOvmzU2AAAECBHoKmJoAAQIEggoIp0EXoy0CBAgQIECAQE4BXRMgQOCagHB6zc1bBAgQIECAAAECBPYIOJVAUQHhtOhijUWAAAECBAgQIECAwDUBb+0REE73uDuVAAECBAgQIECAAAECXQUezi2cPmRxkQABAgQIECBAgAABAgRWCginI7XVIkCAAAECBAgQIECAAIFLAsLpJTYv7RJwLgECBAgQIECAAAECNQWE05p7NRWBqwLeI0CAAAECBAgQILBFQDjdwu5QAgT6CpicAAECBAgQIEDgkYBw+kjFNQIECBDIK6BzAgQIECBAIKWAcJpybZomQIAAAQL7BJxMgAABAgRmCAinM1TVJECAAAECBAhcF/AmAQIEWgoIpy3XbmgCBAgQIECAQGcBsxMgEFFAOI24FT0RIECAAAECBAgQyCygdwIXBITTC2heIUCAAAECBAgQIECAwE6BimcLpxW3aiYCBAgQIECAAAECBAgkEwgWTpPpaZcAAQIECBAgQIAAAQIEhggIp0MYExXRKgECBAgQIECAAAECBAIKCKcBl6Kl3AK6J0CAAAECBAgQIEDgvIBwet7MGwQI7BVwOgECBAgQIECAQEEB4bTgUo1EgACBewLeJkCAAAECBAisFxBO15s7kQABAgS6C5ifAAECBAgQ+CEgnP4gcYEAAQIECBDILqB/AgQIEMgnIJzm25mOCRAgQIAAAQK7BZxPgACB4QLC6XBSBQkQIECAAAECBAjcFfA+gX4Cwmm/nZuYAAECBAgQIECAAAEC4QSE03Ar0RABAgQIECBAgAABAgTyC5ydQDg9K+Z5AgQIECBAgAABAgQIEBguIJyeJvUCAQIECBAgQIAAAQIECIwWEE5Hi6p3X0AFAgQIECBAgAABAgTaCQin7VZuYAIfHwwIECBAgAABAgQIRBMQTqNtRD8ECFQQMAMBAgQIECBAgMBJAeH0JJjHCRAgQCCCgB4IECBAgACBagLCabWNmocAAQIECIwQUIMAAQIECCwWEE4XgzuOAAECBAgQIPBLwD8CBAgQ+CognH718I0AAQIECBAgQKCGgCkIEEgmIJwmW5h2CRAgQIAAAQIECMQQ0AWBsQLC6VhP1QgQIECAAAECBAgQIDBGoFkV4bTZwo1LgAABAgQIECBAgACBiAI7wmlEBz0RIECAAAECBAgQIECAwEYB4XQj/ryjVSZAgAABAgQIECBAgEAuAeE01750G0VAHwQIECBAgAABAgQIDBUQTodyKkaAwCgBdQgQIECAAAECBHoJCKe99m1aAgQI/BHwmwABAgQIECAQSkA4DbUOzRAgQIBAHQGTECBAgAABAmcEhNMzWp4lQIAAAQIE4gjohAABAgRKCQinpdZpGAIECBAgQIDAOAGVCBAgsFJAOF2p7SwCBAgQIECAAAECfwV8IkDgk4Bw+gnDRwIECBAgQIAAAQIEKgmYJZOAcJppW3olQIAAAQIECBAgQIBAJIGBvQinAzGVIkCAAAECBAgQIECAAIFrAsLpYzdXCRAgQIAAAQIECBAgQGChgHC6ENtRnwV8JkCAAAECBAgQIECAwF8B4fSvhU8EagmYhgABAgQIECBAgEAiAeE00bK0SoBALAHdECBAgAABAgQIjBMQTsdZqkSAAAECYwVUI0CAAAECBBoJCKeNlm1UAgQIECDwVcA3AgQIECAQR0A4jbMLnRAgQIAAAQLVBMxDgAABAocFhNPDVB4kQIAAAQIECBCIJqAfAgTqCAindXZpEgIECBAgQIAAAQKjBdQjsExAOF1G7SACBAgQIECAAAECBAh8F/D9j4Bw+kfCbwIECBAgQIAAAQIECBDYJjAtnG6byMEECBAgQIAAAQIECBAgkE5AOE23sv8a9oEAAQIECBAgQIAAAQJlBITTMqs0yHgBFQkQIECAAAECBAgQWCUgnK6Sdg4BAj8FXCFAgAABAgQIECDwr4Bw+i+EXwQIEKgoYCYCBAgQIECAQBYB4TTLpvRJgAABAhEF9ESAAAECBAgMEhBOB0EqQ4AAAQIECMwQUJMAAQIEuggIp102bU4CBAgQIECAwCMB1wgQIBBEQDgNsghtECBAgAABAgQI1BQwFQECxwSE02NOniJAgAABAgQIECBAIKaArooICKdFFmkMAgQIECBAgAABAgQIzBFYU1U4XePsFAIECBAgQIAAAQIECBB4IdA6nL5wcYsAAQIECBAgQIAAAQIEFgoIpwuxGx5lZAIECBAgQIAAAQIECBwSEE4PMXmIQFQBfREgQIAAAQIECBCoISCc1tijKQgQmCWgLgECBAgQIECAwBIB4XQJs0MIECBA4JmA6wQIECBAgACBXwLC6S8F/wgQIECAQF0BkxEgQIAAgRQCwmmKNWmSAAECBAgQiCugMwIECBAYISCcjlBUgwABAgQIECBAYJ6AygQItBAQTlus2ZAECBAgQIAAAQIEngu4QyCCgHAaYQt6IECAAAECBAgQIECgsoDZDggIpweQPEKAAAECBAgQIECAAAECcwXuhdO5valOgAABAgQIECBAgAABAk0EhNPgi9YeAQIECBAgQIAAAQIEOggIpx22bMZXAu4hlrd8AAAQAElEQVQRIECAAAECBAgQIBBAQDgNsAQtEKgtYDoCBAgQIECAAAEC7wWE0/dGniBAgEBsAd0RIECAAAECBAoICKcFlmgEAgQIEJgroDoBAgQIECAwX0A4nW/sBAIECBAgQOC1gLsECBAgQOBDOPVHQIAAAQIECBAoL2BAAgQIxBcQTuPvSIcECBAgQIAAAQLRBfRHgMBtAeH0NqECBAgQIECAAAECBAjMFlC/voBwWn/HJiRAgAABAgQIECBAgMA7ge33hdPtK9AAAQIECBAgQIAAAQIECNQPp3ZMgAABAgQIECBAgAABAuEFhNPwK4rfoA4JECBAgAABAgQIECBwV0A4vSvofQLzBZxAgAABAgQIECBAoLyAcFp+xQYkQOC9gCcIECBAgAABAgR2CwinuzfgfAIECHQQMCMBAgQIECBA4I2AcPoGyG0CBAgQIJBBQI8ECBAgQCC7gHCafYP6J0CAAAECBFYIOIMAAQIEJgsIp5OBlSdAgAABAgQIEDgi4BkCBLoLCKfd/wLMT4AAAQIECBAg0EPAlASCCwinwRekPQIECBAgQIAAAQIEcgjo8p6AcHrPz9sECBAgQIAAAQIECBAgMEDgQDgdcIoSBAgQIECAAAECBAgQIEDghYBw+gJn2S0HESBAgAABAgQIECBAoLmAcNr8D6DL+OYkQIAAAQIECBAgQCC2gHAaez+6I5BFQJ8ECBAgQIAAAQIEbgkIp7f4vEyAAIFVAs4hQIAAAQIECNQWEE5r79d0BAgQIHBUwHMECBAgQIDAVgHhdCu/wwkQIECAQB8BkxIgQIAAgVcCwukrHfcIECBAgAABAnkEdEqAAIHUAsJp6vVpngABAgQIECBAYJ2AkwgQmCkgnM7UVZsAAQIECBAgQIAAgeMCnmwtIJy2Xr/hCRAgQIAAAQIECBDoJBB5VuE08nb0RoAAAQIECBAgQIAAgSYCRcJpk20ZkwABAgQIECBAgAABAkUFhNOiix0+loIECBAgQIAAAQIECBCYKCCcTsRVmsAZAc8SIECAAAECBAgQ6CwgnHbevtkJ9BIwLQECBAgQIECAQGAB4TTwcrRGgACBXAK6JUCAAAECBAhcFxBOr9t5kwABAgQIrBVwGgECBAgQKCwgnBZertEIECBAgACBcwKeJkCAAIF9AsLpPnsnEyBAgAABAgS6CZiXAAECTwWE06c0bhAgQIAAAQIECBDIJqBfAnkFhNO8u9M5AQIECBAgQIAAAQKrBZw3TUA4nUarMAECBAgQIECAAAECBAgcFfgTTo8+7zkCBAgQIECAAAECBAgQIDBcQDgdTvqsoOsECBAgQIAAAQIECBAg8ExAOH0m43o+AR0TIECAAAECBAgQIJBWQDhNuzqNE1gv4EQCBAgQIECAAAECswSE01my6hIgQOC8gDcIECBAgAABAm0FhNO2qzc4AQIEOgqYmQABAgQIEIgqIJxG3Yy+CBAgQIBARgE9EyBAgACBiwLC6UU4rxEgQIAAAQIEdgg4kwABAlUFhNOqmzUXAQIECBAgQIDAFQHvECCwSUA43QTvWAIECBAgQIAAAQI9BUxN4LGAcPrYxVUCBAgQIECAAAECBAjkFEjatXCadHHaJkCAAAECBAgQIECAQCWBTOG0krtZCBAgQIAAAQIECBAgQOCTgHD6CcNHAgQIECBAgAABAgQIENgjIJzucXdqVwFzEyBAgAABAgQIECDwUEA4fcjiIgECWQX0TYAAAQIECBAgkFNAOM25N10TIEBgl4BzCRAgQIAAAQJTBITTKayKEiBAgACBqwLeI0CAAAECPQWE0557NzUBAgQIEOgrYHICBAgQCCkgnIZci6YIECBAgAABAnkFdE6AAIErAsLpFTXvECBAgAABAgQIENgn4GQCJQWE05JrNRQBAgQIECBAgAABAtcFvLlDQDjdoe5MAgQIECBAgAABAgQIdBZ4MLtw+gDFJQIECBAgQIAAAQIECBBYKyCcjvVWjQABAgQIECBAgAABAgQuCAinF9C8slPA2QQIECBAgAABAgQIVBQQTitu1UwE7gh4lwABAgQIECBAgMAGAeF0A7ojCRDoLWB6AgQIECBAgACBnwLC6U8TVwgQIEAgt4DuCRAgQIAAgYQCwmnCpWmZAAECBAjsFXA6AQIECBAYLyCcjjdVkQABAgQIECBwT8DbBAgQaCggnDZcupEJECBAgAABAt0FzE+AQDwB4TTeTnREgAABAgQIECBAILuA/gmcFhBOT5N5gQABAgQIECBAgAABArsF6p0vnNbbqYkIECBAgAABAgQIECCQTiBcOE0nqGECBAgQIECAAAECBAgQuC0gnN4mTFdAwwQIECBAgAABAgQIEAgnIJyGW4mG8guYgAABAgQIECBAgACBswLC6VkxzxMgsF9ABwQIECBAgAABAuUEhNNyKzUQAQIE7guoQIAAAQIECBBYLSCcrhZ3HgECBAgQ+PhgQIAAAQIECHwTEE6/gfhKgAABAgQIVBAwAwECBAhkExBOs21MvwQIECBAgACBCAJ6IECAwGAB4XQwqHIECBAgQIAAAQIERgioQaCbgHDabePmJUCAAAECBAgQIEDgl4B/wQSE02AL0Q4BAgQIECBAgAABAgRqCJybQjg95+VpAgQIECBAgAABAgQIEJggIJxeQPUKAQIECBAgQIAAAQIECIwVEE7Heqo2RkAVAgQIECBAgAABAgSaCQinzRZuXAK/BfwkQIAAAQIECBAgEEtAOI21D90QIFBFwBwECBAgQIAAAQKnBITTU1weJkCAAIEoAvogQIAAAQIEagkIp7X2aRoCBAgQIDBKQB0CBAgQILBUQDhdyu0wAgQIECBAgMAfAb8JECBA4LOAcPpZw2cCBAgQIECAAIE6AiYhQCCVgHCaal2aJUCAAAECBAgQIBBHQCcERgoIpyM11SJAgAABAgQIECBAgMA4gVaVhNNW6zYsAQIECBAgQIAAAQIEYgrsCacxLXRFgAABAgQIECBAgAABApsEhNNN8LOPVZ8AAQIECBAgQIAAAQKZBITTTNvSayQBvRAgQIAAAQIECBAgMFBAOB2IqRQBAiMF1CJAgAABAgQIEOgkIJx22rZZCRAg8FnAZwIECBAgQIBAIAHhNNAytEKAAAECtQRMQ4AAAQIECBwXEE6PW3mSAAECBAgQiCWgGwIECBAoJCCcFlqmUQgQIECAAAECYwVUI0CAwDoB4XSdtZMIECBAgAABAgQIfBXwjQCB/wSE0/8ofCBAgAABAgQIECBAoJqAefIICKd5dqVTAgQIECBAgAABAgQIRBMY1o9wOoxSIQIECBAgQIAAAQIECBC4KiCcPpNznQABAgQIECBAgAABAgSWCQiny6gd9F3AdwIECBAgQIAAAQIECPwREE7/SPhNoJ6AiQgQIECAAAECBAikERBO06xKowQIxBPQEQECBAgQIECAwCgB4XSUpDoECBAgMF5ARQIECBAgQKCNgHDaZtUGJUCAAAECPwVcIUCAAAECUQSE0yib0AcBAgQIECBQUcBMBAgQIHBQQDg9COUxAgQIECBAgACBiAJ6IkCgioBwWmWT5iBAgAABAgQIECAwQ0BNAosEhNNF0I4hQIAAAQIECBAgQIDAIwHXfgsIp78d/CRAgAABAgQIECBAgACBjQITw+nGqRxNgAABAgQIECBAgAABAqkEhNNU6/rWrK8ECBAgQIAAAQIECBAoIiCcFlmkMeYIqEqAAAECBAgQIECAwBoB4XSNs1MIEHgs4CoBAgQIECBAgACB/wkIp/9j8IMAAQJVBcxFgAABAgQIEMghIJzm2JMuCRAgQCCqgL4IECBAgACBIQLC6RBGRQgQIECAAIFZAuoSIECAQA8B4bTHnk1JgAABAgQIEHgm4DoBAgRCCAinIdagCQIECBAgQIAAgboCJiNA4IiAcHpEyTMECBAgQIAAAQIECMQV0FkJAeG0xBoNQYAAAQIECBAgQIAAgXkCKyoLpyuUnUGAAAECBAgQIECAAAECLwWah9OXNm4SIECAAAECBAgQIECAwCIB4XQRdNtjDE6AAAECBAgQIECAAIEDAsLpASSPEIgsoDcCBAgQIECAAAECFQSE0wpbNAMBAjMF1CZAgAABAgQIEFggIJwuQHYEAQIECLwScI8AAQIECBAg8PEhnPorIECAAAEC1QXMR4AAAQIEEggIpwmWpEUCBAgQIEAgtoDuCBAgQOC+gHB631AFAgQIECBAgACBuQKqEyDQQEA4bbBkIxIgQIAAAQIECBB4LeAugf0Cwun+HeiAAAECBAgQIECAAIHqAuZ7KyCcviXyAAECBAgQIECAAAECBAjMFrgbTmf3pz4BAgQIECBAgAABAgQINBAQTsMvWYMECBAgQIAAAQIECBCoLyCc1t+xCd8JuE+AAAECBAgQIECAwHYB4XT7CjRAoL6ACQkQIECAAAECBAi8ExBO3wm5T4AAgfgCOiRAgAABAgQIpBcQTtOv0AAECBAgMF/ACQQIECBAgMBsAeF0trD6BAgQIECAwHsBTxAgQIBAewHhtP2fAAACBAgQIECgg4AZCRAgEF1AOI2+If0RIECAAAECBAhkENAjAQI3BYTTm4BeJ0CAAAECBAgQIEBghYAzqgsIp9U3bD4CBAgQIECAAAECBAgcEdj8jHC6eQGOJ0CAAAECBAgQIECAAIGPjw7h1J4JECBAgAABAgQIECBAILiAcBp8QTna0yUBAgQIECBAgAABAgTuCQin9/y8TWCNgFMIECBAgAABAgQIFBcQTosv2HgECBwT8BQBAgQIECBAgMBeAeF0r7/TCRAg0EXAnAQIECBAgACBlwLC6UseNwkQIECAQBYBfRIgQIAAgdwCwmnu/emeAAECBAgQWCXgHAIECBCYKiCcTuVVnAABAgQIECBA4KiA5wgQ6C0gnPbev+kJECBAgAABAgT6CJiUQGgB4TT0ejRHgAABAgQIECBAgEAeAZ3eERBO7+h5lwABAgQIECBAgAABAgSGCBwKp0NOUoQAAQIECBAgQIAAAQIECDwREE6fwCy+7DgCBAgQIECAAAECBAi0FhBOW6+/0/BmJUCAAAECBAgQIEAgsoBwGnk7eiOQSUCvBAgQIECAAAECBG4ICKc38LxKgACBlQLOIkCAAAECBAhUFhBOK2/XbAQIECBwRsCzBAgQIECAwEYB4XQjvqMJECBAgEAvAdMSIECAAIHnAsLpcxt3CBAgQIAAAQK5BHRLgACBxALCaeLlaZ0AAQIECBAgQGCtgNMIEJgnIJzOs1WZAAECBAgQIECAAIFzAp5uLCCcNl6+0QkQIECAAAECBAgQ6CYQd17hNO5udEaAAAECBAgQIECAAIE2AmXCaZuNGZQAAQIECBAgQIAAAQIFBYTTgkudNJKyBAgQIECAAAECBAgQmCYgnE6jVZjAWQHPEyBAgAABAgQIEOgrIJz23b3JCfQTMDEB5RWF9wAADAxJREFUAgQIECBAgEBYAeE07Go0RoAAgXwCOiZAgAABAgQIXBUQTq/KeY8AAQIECKwXcCIBAgQIECgrIJyWXa3BCBAgQIAAgfMC3iBAgACBXQLC6S555xIgQIAAAQIEOgqYmQABAk8EhNMnMC4TIECAAAECBAgQyCigZwJZBYTTrJvTNwECBAgQIECAAAECOwScOUlAOJ0EqywBAgQIECBAgAABAgQIHBf4G06Pv+NJAgQIECBAgAABAgQIECAwVEA4Hcr5upi7BAgQIECAAAECBAgQIPBYQDh97OJqTgFdEyBAgAABAgQIECCQVEA4Tbo4bRPYI+BUAgQIECBAgAABAnMEhNM5rqoSIEDgmoC3CBAgQIAAAQJNBYTTpos3NgECBLoKmJsAAQIECBCIKSCcxtyLrggQIECAQFYBfRMgQIAAgUsCwuklNi8RIECAAAECBHYJOJcAAQI1BYTTmns1FQECBAgQIECAwFUB7xEgsEVAON3C7lACBAgQIECAAAECfQVMTuCRgHD6SMU1AgQIECBAgAABAgQI5BVI2blwmnJtmiZAgAABAgQIECBAgEAtgVzhtJa9aQgQIECAAAECBAgQIEDgXwHh9F8Iv34L+EmAAAECBAgQIECAAIEdAsLpDnVndhYwOwECBAgQIECAAAECDwSE0wcoLhEgkFlA7wQIECBAgAABAhkFhNOMW9MzAQIEdgo4mwABAgQIECAwQUA4nYCqJAECBAgQuCPgXQIECBAg0FFAOO24dTMTIECAAIHeAqYnQIAAgYACwmnApWiJAAECBAgQIJBbQPcECBA4LyCcnjfzBgECBAgQIECAAIG9Ak4nUFBAOC24VCMRIECAAAECBAgQIHBPwNvrBYTT9eZOJECAAAECBAgQIECAQHeBH/MLpz9IXCBAgAABAgQIECBAgACB1QLC6Whx9QgQIECAAAECBAgQIEDgtIBweprMC7sFnE+AAAECBAgQIECAQD0B4bTeTk1E4K6A9wkQIECAAAECBAgsFxBOl5M7kAABAgQIECBAgAABAgS+Cwin30V8J0CAAIH8AiYgQIAAAQIE0gkIp+lWpmECBAgQILBfQAcECBAgQGC0gHA6WlQ9AgQIECBAgMB9ARUIECDQTkA4bbdyAxMgQIAAAQIECHx8MCBAIJqAcBptI/ohQIAAAQIECBAgUEHADAROCginJ8E8ToAAAQIECBAgQIAAgQgC1XoQTqtt1DwECBAgQIAAAQIECBBIKBAwnCZU1DIBAgQIECBAgAABAgQI3BIQTm/xJX1Z2wQIECBAgAABAgQIEAgmIJwGW4h2agiYggABAgQIECBAgACBcwLC6TkvTxMgEENAFwQIECBAgAABAsUEhNNiCzUOAQIExgioQoAAAQIECBBYKyCcrvV2GgECBAgQ+C3gJwECBAgQIPBFQDj9wuELAQIECBAgUEXAHAQIECCQS0A4zbUv3RIgQIAAAQIEogjogwABAkMFhNOhnIoRIECAAAECBAgQGCWgDoFeAsJpr32blgABAgQIECBAgACBPwJ+hxIQTkOtQzMECBAgQIAAAQIECBCoI3BmEuH0jJZnCRAgQIAAAQIECBAgQGCKgHB6idVLBAgQIECAAAECBAgQIDBSQDgdqanWOAGVCBAgQIAAAQIECBBoJSCctlq3YQn8FfCJAAECBAgQIECAQCQB4TTSNvRCgEAlAbMQIECAAAECBAicEBBOT2B5lAABAgQiCeiFAAECBAgQqCQgnFbaplkIECBAgMBIAbUIECBAgMBCAeF0IbajCBAgQIAAAQKfBXwmQIAAgb8CwulfC58IECBAgAABAgRqCZiGAIFEAsJpomVplQABAgQIECBAgEAsAd0QGCcgnI6zVIkAAQIECBAgQIAAAQJjBRpVE04bLduoBAgQIECAAAECBAgQiCqwK5xG9dAXAQIECBAgQIAAAQIECGwQEE43oK850ikECBAgQIAAAQIECBDIIyCc5tmVTqMJ6IcAAQIECBAgQIAAgWECwukwSoUIEBgtoB4BAgQIECBAgEAfAeG0z65NSoAAge8CvhMgQIAAAQIEwggIp2FWoRECBAgQqCdgIgIECBAgQOCogHB6VMpzBAgQIECAQDwBHREgQIBAGQHhtMwqDUKAAAECBAgQGC+gIgECBFYJCKerpJ1DgAABAgQIECBA4KeAKwQI/CsgnP4L4RcBAgQIECBAgAABAhUFzJRFQDjNsil9EiBAgAABAgQIECBAIKLAoJ6E00GQyhAgQIAAAQIECBAgQIDAdQHh9LmdOwQIECBAgAABAgQIECCwSEA4XQTtmEcCrhEgQIAAAQIECBAgQOC3gHD628FPAjUFTEWAAAECBAgQIEAgiYBwmmRR2iRAIKaArggQIECAAAECBMYICKdjHFUhQIAAgTkCqhIgQIAAAQJNBITTJos2JgECBAgQeCzgKgECBAgQiCEgnMbYgy4IECBAgACBqgLmIkCAAIFDAsLpISYPESBAgAABAgQIRBXQFwECNQSE0xp7NAUBAgQIECBAgACBWQLqElgiIJwuYXYIAQIECBAgQIAAAQIEngm4/ktAOP2l4B8BAgQIECBAgAABAgQIbBWYGk63TuZwAgQIECBAgAABAgQIEEgjIJymWdXDRl0kQIAAAQIECBAgQIBACQHhtMQaDTFPQGUCBAgQIECAAAECBFYICKcrlJ1BgMBzAXcIECBAgAABAgQI/CMgnP6D4D8CBAhUFjAbAQIECBAgQCCDgHCaYUt6JECAAIHIAnojQIAAAQIEBggIpwMQlSBAgAABAgRmCqhNgAABAh0EhNMOWzYjAQIECBAgQOCVgHsECBAIICCcBliCFggQIECAAAECBGoLmI4AgfcCwul7I08QIECAAAECBAgQIBBbQHcFBITTAks0AgECBAgQIECAAAECBOYKzK8unM43dgIBAgQIECBAgAABAgQIvBFoH07f+LhNgAABAgQIECBAgAABAgsEhNMFyM2PMD4BAgQIECBAgAABAgTeCginb4k8QCC6gP4IECBAgAABAgQI5BcQTvPv0AQECMwWUJ8AAQIECBAgQGC6gHA6ndgBBAgQIPBOwH0CBAgQIECAgHDqb4AAAQIECNQXMCEBAgQIEAgvIJyGX5EGCRAgQIAAgfgCOiRAgACBuwLC6V1B7xMgQIAAAQIECMwXcAIBAuUFhNPyKzYgAQIECBAgQIAAgfcCniCwW0A43b0B5xMgQIAAAQIECBAg0EHAjG8EhNM3QG4TIECAAAECBAgQIECAwHyB++F0fo9OIECAAAECBAgQIECAAIHiAsJpggVrkQABAgQIECBAgAABAtUFhNPqGzbfEQHPECBAgAABAgQIECCwWUA43bwAxxPoIWBKAgQIECBAgAABAq8FhNPXPu4SIEAgh4AuCRAgQIAAAQLJBYTT5AvUPgECBAisEXAKAQIECBAgMFdAOJ3rqzoBAgQIECBwTMBTBAgQINBcQDht/gdgfAIECBAgQKCLgDkJECAQW0A4jb0f3REgQIAAAQIECGQR0CcBArcEhNNbfF4mQIAAAQIECBAgQGCVgHNqCwintfdrOgIECBAgQIAAAQIECBwV2PqccLqV3+EECBAgQIAAAQIECBAg8EugRzj9Nal/BAgQIECAAAECBAgQIBBWQDgNu5pcjemWAAECBAgQIECAAAECdwSE0zt63iWwTsBJBAgQIECAAAECBEoLCKel12s4AgSOC3iSAAECBAgQIEBgp4BwulPf2QQIEOgkYFYCBAgQIECAwAsB4fQFjlsECBAgQCCTgF4JECBAgEBmAeE08/b0ToAAAQIECKwUcBYBAgQITBQQTifiKk2AAAECBAgQIHBGwLMECHQWEE47b9/sBAgQIECAAAECvQRMSyCwgHAaeDlaI0CAAAECBAgQIEAgl4BurwsIp9ftvEmAAAECBAgQIECAAAECgwQOhtNBpylDgAABAgQIECBAgAABAgQeCAinD1C2XHIoAQIECBAgQIAAAQIEGgsIp42X32108xIgQIAAAQIECBAgEFdAOI27G50RyCagXwIECBAgQIAAAQKXBYTTy3ReJECAwGoB5xEgQIAAAQIE6gr8PwAAAP//F58BYwAAAAZJREFUAwA4cwblU3DcW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09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3" y="733425"/>
            <a:ext cx="8915399" cy="828675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Introduction 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9588" y="1838326"/>
            <a:ext cx="8915399" cy="2760412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 biobank collects, stores, manages, and provides biological specimens for biomedical research.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system organizes donors, consent,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biospecimens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aliquots, storage, researchers, and research requests.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using MySQL with tables, constraints, views, trigger, stored procedure, and SQL queries.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051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3288" y="495300"/>
            <a:ext cx="8915399" cy="843556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Problem Statement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7188" y="1338856"/>
            <a:ext cx="10498137" cy="4529731"/>
          </a:xfrm>
        </p:spPr>
        <p:txBody>
          <a:bodyPr>
            <a:noAutofit/>
          </a:bodyPr>
          <a:lstStyle/>
          <a:p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Unstructured specimen management can cause duplicated information and inaccurate inventory</a:t>
            </a:r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It can also make samples difficult to locate and research requests difficult to track</a:t>
            </a:r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Our relational database connects the related information while maintaining data integrity.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063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1863" y="428625"/>
            <a:ext cx="10279062" cy="1024531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4400" dirty="0"/>
              <a:t>3. Project Scope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8325" y="2191669"/>
            <a:ext cx="9572625" cy="2474662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Donor &amp; consent management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Biospecimen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aliquot inventory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Storage locations and temperatures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Researchers and test requests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Views, SQL operations, trigger, and stored procedure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474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7063" y="495300"/>
            <a:ext cx="10650537" cy="795931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Main Database Entities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60563" y="1634129"/>
            <a:ext cx="8915399" cy="3185521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DONORS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CONSENTS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SAMPLE_TYPES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STORAGE_LOCATIONS</a:t>
            </a: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BIOSPECIMENS</a:t>
            </a: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ALIQUOTS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RESEARCHERS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TEST_REQUESTS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809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7906" y="514350"/>
            <a:ext cx="10136187" cy="1062631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Main Relationships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0700" y="2015129"/>
            <a:ext cx="8915399" cy="1126283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Donor 1:M Consent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Donor 1:M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Biospecimen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SampleType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1:M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Biospecimen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Biospecimen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1:M Aliquot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StorageLocation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1:M Aliquot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Researcher 1:M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TestRequest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Aliquot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Aliquot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TestRequest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87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719" y="476250"/>
            <a:ext cx="10088562" cy="843556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Database Structure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4813" y="2110379"/>
            <a:ext cx="10431462" cy="4080871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entity is represented by a separate relational table.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keys uniquely identify records.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Foreign keys connect related tables.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Unique constraints prevent duplicate emails.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ENUM values control valid statuses and categories.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252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6163" y="457200"/>
            <a:ext cx="10107612" cy="843556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Normalization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0038" y="1900829"/>
            <a:ext cx="10479087" cy="3395071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design follows relational normalization principles and is intended to satisfy 3NF.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Independent subjects are separated into their own tables.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Foreign keys reduce repeated information.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helps reduce redundancy and update anomalies.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209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9963" y="400050"/>
            <a:ext cx="10688637" cy="900706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Views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6875" y="1757954"/>
            <a:ext cx="10325100" cy="1126283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vw_available_inventory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available aliquots with sample type and storage information.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vw_project_requests_summary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Summarizes project requests, researchers, aliquots, and sample types.</a:t>
            </a: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177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0913" y="257174"/>
            <a:ext cx="10221912" cy="986431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Trigger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3075" y="1796054"/>
            <a:ext cx="10553700" cy="1126283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trg_reduce_sample_volume_after_aliquot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Runs after a new aliquot is inserted.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Automatically subtracts aliquot volume from the parent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biospecimen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remaining volume reaches zero or below, the sample becomes Depleted.</a:t>
            </a:r>
          </a:p>
        </p:txBody>
      </p:sp>
    </p:spTree>
    <p:extLst>
      <p:ext uri="{BB962C8B-B14F-4D97-AF65-F5344CB8AC3E}">
        <p14:creationId xmlns:p14="http://schemas.microsoft.com/office/powerpoint/2010/main" val="2151747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5531" y="323850"/>
            <a:ext cx="10040937" cy="1072156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10. Stored Procedure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9113" y="2024654"/>
            <a:ext cx="9469437" cy="1126283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sp_approve_test_request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Receives a request ID.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the request status to Approved.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the associated aliquot status to Reserved</a:t>
            </a:r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537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1413" y="323850"/>
            <a:ext cx="10440987" cy="957856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11. SQL Operations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4206" y="1796054"/>
            <a:ext cx="8915399" cy="1126283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JOIN queries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Aggregation using COUNT, AVG, and SUM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Subquery using average specimen volume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DELETE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222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3150" y="409575"/>
            <a:ext cx="10431462" cy="919756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12. Test Data &amp; Verification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6400" y="1879102"/>
            <a:ext cx="10334625" cy="2966446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Synthetic educational data is used.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 sample types and 10 storage locations.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 donors, consents,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biospecimens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aliquots, researchers, and test requests.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Views are verified using SELECT statements.</a:t>
            </a: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325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8063" y="419100"/>
            <a:ext cx="10964862" cy="995956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13. User Interface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2600" y="1862729"/>
            <a:ext cx="10439400" cy="1126283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Biobank Management Portal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Donors Management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Inventory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Requests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current HTML is a front-end prototype rather than a fully connected backend application.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613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1" y="409575"/>
            <a:ext cx="10809286" cy="910231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14. Limitations &amp; Future Improvements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9444" y="1815104"/>
            <a:ext cx="10140156" cy="1126283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Synthetic data only.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dedicated collection-event table.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interaction is represented through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test_requests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production version would </a:t>
            </a:r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backend/database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connectivity, authentication, and validated CRUD operations.</a:t>
            </a: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97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1250" y="371475"/>
            <a:ext cx="10393362" cy="881656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15. Conclusion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8806" y="1900829"/>
            <a:ext cx="9932194" cy="1126283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provides a structured relational solution for biobank management.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demonstrates database design, normalization, implementation, querying, views, trigger, stored procedure, and testing. </a:t>
            </a:r>
            <a:endParaRPr lang="en-US" sz="3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design supports consistent specimen inventory and research-request management.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613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70363" y="1562100"/>
            <a:ext cx="5487987" cy="2262781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36400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134</TotalTime>
  <Words>604</Words>
  <Application>Microsoft Office PowerPoint</Application>
  <PresentationFormat>Widescreen</PresentationFormat>
  <Paragraphs>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Century Gothic</vt:lpstr>
      <vt:lpstr>Wingdings 3</vt:lpstr>
      <vt:lpstr>Wisp</vt:lpstr>
      <vt:lpstr>Biobank &amp; Biospecimen Management System</vt:lpstr>
      <vt:lpstr>1. Introduction </vt:lpstr>
      <vt:lpstr>2. Problem Statement</vt:lpstr>
      <vt:lpstr>3. Project Scope</vt:lpstr>
      <vt:lpstr>4. Main Database Entities</vt:lpstr>
      <vt:lpstr>5. Main Relationships</vt:lpstr>
      <vt:lpstr>6. Database Structure</vt:lpstr>
      <vt:lpstr>7. Normalization</vt:lpstr>
      <vt:lpstr>8. Views</vt:lpstr>
      <vt:lpstr>9. Trigger</vt:lpstr>
      <vt:lpstr>10. Stored Procedure</vt:lpstr>
      <vt:lpstr>11. SQL Operations</vt:lpstr>
      <vt:lpstr>12. Test Data &amp; Verification</vt:lpstr>
      <vt:lpstr>13. User Interface</vt:lpstr>
      <vt:lpstr>14. Limitations &amp; Future Improvements</vt:lpstr>
      <vt:lpstr>15. Conclusion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lavania</dc:creator>
  <cp:lastModifiedBy>lavania</cp:lastModifiedBy>
  <cp:revision>9</cp:revision>
  <dcterms:created xsi:type="dcterms:W3CDTF">2026-08-15T16:21:10Z</dcterms:created>
  <dcterms:modified xsi:type="dcterms:W3CDTF">2026-08-15T18:35:21Z</dcterms:modified>
</cp:coreProperties>
</file>